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74" r:id="rId4"/>
    <p:sldId id="278" r:id="rId5"/>
    <p:sldId id="259" r:id="rId6"/>
    <p:sldId id="272" r:id="rId7"/>
    <p:sldId id="277" r:id="rId8"/>
    <p:sldId id="258" r:id="rId9"/>
    <p:sldId id="269" r:id="rId10"/>
    <p:sldId id="275" r:id="rId11"/>
    <p:sldId id="261" r:id="rId12"/>
    <p:sldId id="262" r:id="rId13"/>
    <p:sldId id="263" r:id="rId14"/>
    <p:sldId id="264" r:id="rId15"/>
    <p:sldId id="279" r:id="rId16"/>
    <p:sldId id="280" r:id="rId17"/>
    <p:sldId id="266" r:id="rId18"/>
    <p:sldId id="267" r:id="rId19"/>
  </p:sldIdLst>
  <p:sldSz cx="12192000" cy="6858000"/>
  <p:notesSz cx="6858000" cy="9144000"/>
  <p:embeddedFontLst>
    <p:embeddedFont>
      <p:font typeface="Apple Garamond" panose="02000506080000020004" pitchFamily="2" charset="0"/>
      <p:regular r:id="rId21"/>
      <p:bold r:id="rId22"/>
      <p:italic r:id="rId23"/>
      <p:boldItalic r:id="rId24"/>
    </p:embeddedFont>
    <p:embeddedFont>
      <p:font typeface="Cambria Math" panose="02040503050406030204" pitchFamily="18" charset="0"/>
      <p:regular r:id="rId25"/>
    </p:embeddedFont>
    <p:embeddedFont>
      <p:font typeface="Montserrat" pitchFamily="2" charset="77"/>
      <p:regular r:id="rId26"/>
      <p:bold r:id="rId27"/>
      <p:italic r:id="rId28"/>
      <p:boldItalic r:id="rId29"/>
    </p:embeddedFont>
    <p:embeddedFont>
      <p:font typeface="Montserrat SemiBold" panose="00000700000000000000" pitchFamily="2" charset="77"/>
      <p:regular r:id="rId30"/>
      <p:bold r:id="rId31"/>
      <p:italic r:id="rId32"/>
      <p:boldItalic r:id="rId33"/>
    </p:embeddedFont>
    <p:embeddedFont>
      <p:font typeface="Open Sans" panose="020B060603050402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5DB6"/>
    <a:srgbClr val="0F172A"/>
    <a:srgbClr val="C2D2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B989710-9016-4797-96AD-5364B75FA817}">
  <a:tblStyle styleId="{DB989710-9016-4797-96AD-5364B75FA81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54"/>
    <p:restoredTop sz="73562"/>
  </p:normalViewPr>
  <p:slideViewPr>
    <p:cSldViewPr snapToGrid="0">
      <p:cViewPr>
        <p:scale>
          <a:sx n="75" d="100"/>
          <a:sy n="75" d="100"/>
        </p:scale>
        <p:origin x="2368" y="5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viewProps" Target="viewProp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Esta es una de las aplicaciones clásicas de la regresión logística en el sector bancario, concretamente para modelar probabilidades de impago.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Con el dataset de FICO nuestro objetivo es el siguiente: dado un cliente que solicita una línea de crédito con garantía hipotecaria, ¿va a pagar o va a impagar?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b="0" i="0" u="none" strike="noStrike">
              <a:solidFill>
                <a:srgbClr val="000000"/>
              </a:solidFill>
              <a:effectLst/>
              <a:latin typeface="-webkit-standar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La base de datos la obtuve de estos repositorios de los machine learning challenges para ver qué modelo estadístico es más preciso/ con mejor poder predictivo</a:t>
            </a: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Diapositiva meramente informativo</a:t>
            </a:r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604E6E82-41E1-EF51-4E72-B580110C4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8681CBD7-98FC-F9D3-60F2-5E7769149C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He eliminado las 109 observaciones que tienen NA’s.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Todas las variables de la base de datos son cuantitativas. (Salvo la variable target)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Hemos elegido las variables por sentido económico y también he eliminado las redundantes para obtener un modelo parsimónico. (pero luego justificarlo por los tests no paramétricos realizados)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Descriptiva básica </a:t>
            </a:r>
          </a:p>
        </p:txBody>
      </p:sp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EDE8929A-65D1-E3FF-5791-19DC269CDE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1529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C15F45D9-8954-04C1-8F84-0A354F098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2254AB17-6DE5-560B-7CB7-F75D2554C9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Todas las variables de la base de datos son cuantitativas. (Salvo la variable target)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Vemos como se distribuyen las variables en estas gráficas.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Nuestra variable target se distribuyen equilibradamente por lo que no habrá que realizar ningún oversampling/undersampling de una categoría.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</p:txBody>
      </p:sp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503A2438-5DA4-A677-8AEF-FFFDCDFB8C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43282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Para las variables cuantitativas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Hipótesis nula de que las varianzas sean iguales -&gt; levene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Que las varainzas no sean iguales -&gt; t-test de independencia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Variables cualitativas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Pruebas de chi.cuadrado</a:t>
            </a:r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ADEEA0D8-4E9A-D2A6-9792-EDCA556A4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>
            <a:extLst>
              <a:ext uri="{FF2B5EF4-FFF2-40B4-BE49-F238E27FC236}">
                <a16:creationId xmlns:a16="http://schemas.microsoft.com/office/drawing/2014/main" id="{66968D4A-37A9-8424-D247-8669DDC84D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Se llegan a las mismas conclusiones con el test de Mann-Whitney</a:t>
            </a:r>
            <a:endParaRPr/>
          </a:p>
        </p:txBody>
      </p:sp>
      <p:sp>
        <p:nvSpPr>
          <p:cNvPr id="126" name="Google Shape;126;p4:notes">
            <a:extLst>
              <a:ext uri="{FF2B5EF4-FFF2-40B4-BE49-F238E27FC236}">
                <a16:creationId xmlns:a16="http://schemas.microsoft.com/office/drawing/2014/main" id="{6EAF7B3A-D7C1-6FCA-5FE1-71EF6538EA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628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BAE94797-5AE1-5C6A-0459-7B2770C4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>
            <a:extLst>
              <a:ext uri="{FF2B5EF4-FFF2-40B4-BE49-F238E27FC236}">
                <a16:creationId xmlns:a16="http://schemas.microsoft.com/office/drawing/2014/main" id="{2B6A9EC8-8BEA-EC37-6A7C-21AF1D476D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En estas gráficas se pueden ver como se distribuyen las variables independientes por la variable target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Hay una diferencia bastante clara en los scores crediticios y uso de tarjeta de credito de los clientes “buenos” y “malos"</a:t>
            </a:r>
            <a:endParaRPr/>
          </a:p>
        </p:txBody>
      </p:sp>
      <p:sp>
        <p:nvSpPr>
          <p:cNvPr id="126" name="Google Shape;126;p4:notes">
            <a:extLst>
              <a:ext uri="{FF2B5EF4-FFF2-40B4-BE49-F238E27FC236}">
                <a16:creationId xmlns:a16="http://schemas.microsoft.com/office/drawing/2014/main" id="{1614B509-ECB3-2898-0EA1-116B8D7E7A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3860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Después de realizar la depuración y descriptiva básica de la base datos, definimos la 4 variables de interés: la variable target y las tres variables independientes que hemos escogido. </a:t>
            </a:r>
            <a:endParaRPr lang="en-US" b="0" i="0" u="none" strike="noStrike">
              <a:solidFill>
                <a:srgbClr val="000000"/>
              </a:solidFill>
              <a:effectLst/>
              <a:latin typeface="-webkit-standar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0" i="0" u="none" strike="noStrike">
              <a:solidFill>
                <a:srgbClr val="000000"/>
              </a:solidFill>
              <a:effectLst/>
              <a:latin typeface="-webkit-standar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- </a:t>
            </a:r>
            <a:r>
              <a:rPr lang="es-ES"/>
              <a:t>RiskPerformance/Riesgo variable dicotómica “Bad” or “Good” que lo hemos transformado en binaria (1/0)  (no paga = 1 y paga = 0)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/>
              <a:t>ExternalRiskEstimate : score crediticio externo. A menor score, mayor riesgo.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/>
              <a:t>NetFractionRevolvingBurden (0 a 100) : porcentaje de uso de tarjetas de crédito. Si el cliente tiene la tarjeta al límite, esto presenta indicadores negativos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/>
              <a:t>NumSatisfactoryTrades: que cuantifica el número de cuentas al día. Esto refleja el comportamiento crediticio del cliente si es bueno o no.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Lo que modelamos entonces es la probabilidad de que el cliente no haya pagado. (Default = Bad = no pagar.)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204766DA-54D9-1A2F-6627-B0B91D143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>
            <a:extLst>
              <a:ext uri="{FF2B5EF4-FFF2-40B4-BE49-F238E27FC236}">
                <a16:creationId xmlns:a16="http://schemas.microsoft.com/office/drawing/2014/main" id="{2086CA39-463F-7E0E-B33A-D21B429C76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No tenemos variables categóricas pero esto es lo más práctico y lo que se debería de hacer</a:t>
            </a:r>
            <a:endParaRPr/>
          </a:p>
        </p:txBody>
      </p:sp>
      <p:sp>
        <p:nvSpPr>
          <p:cNvPr id="126" name="Google Shape;126;p4:notes">
            <a:extLst>
              <a:ext uri="{FF2B5EF4-FFF2-40B4-BE49-F238E27FC236}">
                <a16:creationId xmlns:a16="http://schemas.microsoft.com/office/drawing/2014/main" id="{CDF319F4-7844-BA78-C7DF-E9EF1258BC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50661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3217BBA-A2FF-DD3B-7D82-4EC434938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>
            <a:extLst>
              <a:ext uri="{FF2B5EF4-FFF2-40B4-BE49-F238E27FC236}">
                <a16:creationId xmlns:a16="http://schemas.microsoft.com/office/drawing/2014/main" id="{B9C78794-066B-7628-1C8A-4017FFAB86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Para la reproducibilidad del modelo tanto en Python en SPSS o cualquier otro programa estadístico, debemos de introducir la misma semilla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Para evitar problemas, he exportado ya directamente la base de datos limpia de python con las variables de interés y con la  variable train-test (como la variable de seleccion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(antes no lo había hecho y había hecho los modelos por separado)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Para evitar que en el de Python utilize otra técnica de estimación, he utilizado el modelo logit del paquete statsmodels y ahora sí coinciden el nº de observaciones, no me había fijado en ello.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Train-test_split de scikit-learn.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</p:txBody>
      </p:sp>
      <p:sp>
        <p:nvSpPr>
          <p:cNvPr id="126" name="Google Shape;126;p4:notes">
            <a:extLst>
              <a:ext uri="{FF2B5EF4-FFF2-40B4-BE49-F238E27FC236}">
                <a16:creationId xmlns:a16="http://schemas.microsoft.com/office/drawing/2014/main" id="{E9F09D50-6F97-7A43-8B7A-E03C77DCB7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1389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Cabe decir que he redondeado a tres o cuatro décimas estos valores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Aclaraciones: en python se calcula el Z Wald y en SPSS el Chi-cuadrado de Wald (se elevaría al cuadrado los resultados de aqui)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riesgo en este caso es que el cliente impague (no pague la línea de crédito)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Por cada punto adicional del score crediticio externo, la probabilidad de riesgo disminuye un 9.24% [( 1 – 0.908) * 100] // se multiplica por 0.908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Por cada número de cuenta realizada adicional disminuye un 2.7% [(1– 0.973) * 100] // se multiplica por 0.973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Por cada porcentaje fraccionario adicional del uso de tarjetas de crédito aumenta la probabilidad de riesgo un 0.8% // se multiplica por 1.008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Comprobación que es el modelo equivalente: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NetFractionRevolvingBurden Z de Wald era 6.384 =&gt; (6.384)^2 = 40.75 </a:t>
            </a:r>
            <a:endParaRPr/>
          </a:p>
        </p:txBody>
      </p:sp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/>
              <a:t>Para evaluar el ajuste del modelo, utilizo el test de Hosmer-Lemeshow: ¿las probabilidades predichas se corresponden con las frecuencias reales observadas? Divide la muestra en 10 deciles de riesgo y va comparando si hay diferencias significativas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/>
              <a:t>Con SPSS, el p-valor obtenido es &gt; 0,05 por lo que el modelo se ajusta adecuadamente (no rechazamos la hipótesis nula)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/>
              <a:t>Con Python nos da un p-valor = 0.0127 &lt; 0.05 =&gt; considerar mejorar el modelo</a:t>
            </a:r>
            <a:endParaRPr/>
          </a:p>
        </p:txBody>
      </p:sp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Desde el punto de vista del banco, es mejor tener una mayor probabilidad de acertar mejor los que no paguen </a:t>
            </a:r>
            <a:r>
              <a:rPr lang="es-ES">
                <a:sym typeface="Wingdings" pitchFamily="2" charset="2"/>
              </a:rPr>
              <a:t> ajustaríamos el punto de corte al umbral 0.3.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Tasa de aciertos : 1005 / 1409 = 71.3 %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Sensibilidad =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Especficidad =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La curva de ROC indica que el 80% de las veces el modelo predice bien entre los clientes buenos y malos.</a:t>
            </a:r>
          </a:p>
        </p:txBody>
      </p:sp>
      <p:sp>
        <p:nvSpPr>
          <p:cNvPr id="211" name="Google Shape;2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9A9E12C4-75DD-FD66-F25E-FEB4BC8E1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>
            <a:extLst>
              <a:ext uri="{FF2B5EF4-FFF2-40B4-BE49-F238E27FC236}">
                <a16:creationId xmlns:a16="http://schemas.microsoft.com/office/drawing/2014/main" id="{CBB0C7FA-9261-8CD6-1E83-7D41BA732B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punto de corte elegido aqui es 0.5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Obtenemos los mismos resultados: se puede ver en el historgrama que se separan bien pero en el medio se fusionan =&gt; consideramos también el punto de corte en el “pico” izquierdo de la montaña de 1’s. (0.3)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También obtenemos las mismas tasas de acierto para el set de test (71.3%)</a:t>
            </a:r>
          </a:p>
        </p:txBody>
      </p:sp>
      <p:sp>
        <p:nvSpPr>
          <p:cNvPr id="211" name="Google Shape;211;p9:notes">
            <a:extLst>
              <a:ext uri="{FF2B5EF4-FFF2-40B4-BE49-F238E27FC236}">
                <a16:creationId xmlns:a16="http://schemas.microsoft.com/office/drawing/2014/main" id="{0B45E204-85A8-B951-27E3-8DE219F0EE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64668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AA32613E-9B80-70E4-BD31-CA507F075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>
            <a:extLst>
              <a:ext uri="{FF2B5EF4-FFF2-40B4-BE49-F238E27FC236}">
                <a16:creationId xmlns:a16="http://schemas.microsoft.com/office/drawing/2014/main" id="{FEBD1C44-4D12-B477-8E13-9EEFFFB0FD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Nota: no me ha dejado utilizar la opción Bootstrap en SPSS (seguramente limitado por la licencia en mac) por lo que me vi obligado realizarlo en 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He aplicado 1000 iteraciones de remuestreo y vemos como los resultados obtenidos convergen y son practicamente equivalentes a las estimaciones del modelo original =&gt;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modelo logístico obtenido es robusto.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También observamos que en los I.C de los odds-ratio/ exponenciales de parámetros no contienen el 1 y en los coeficientes estimados tampoco el 0.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Podemos concluir que las variables elegidas son predictores significativos para predecir la variable Riesgo.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(Siempre al nivel de confianza 95%)</a:t>
            </a:r>
          </a:p>
        </p:txBody>
      </p:sp>
      <p:sp>
        <p:nvSpPr>
          <p:cNvPr id="211" name="Google Shape;211;p9:notes">
            <a:extLst>
              <a:ext uri="{FF2B5EF4-FFF2-40B4-BE49-F238E27FC236}">
                <a16:creationId xmlns:a16="http://schemas.microsoft.com/office/drawing/2014/main" id="{42F00FA3-BE5F-0DDA-7583-207F71EA4D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65928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Es un modelo parsimónico, ya que tiene una tasa de aciertos decente(del 70%) para un modelo con solo tres variables pero si quisieramos mejorar su precisión predictivo y evitar posible overfitting utilizaríamos más variables y evaluar el uso de técnicas de regularización Ridge o Lasso.</a:t>
            </a:r>
            <a:endParaRPr/>
          </a:p>
        </p:txBody>
      </p:sp>
      <p:sp>
        <p:nvSpPr>
          <p:cNvPr id="249" name="Google Shape;2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8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6.png"/><Relationship Id="rId5" Type="http://schemas.openxmlformats.org/officeDocument/2006/relationships/image" Target="../media/image23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6.png"/><Relationship Id="rId7" Type="http://schemas.openxmlformats.org/officeDocument/2006/relationships/image" Target="../media/image27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0.png"/><Relationship Id="rId5" Type="http://schemas.openxmlformats.org/officeDocument/2006/relationships/image" Target="../media/image250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29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0.png"/><Relationship Id="rId4" Type="http://schemas.openxmlformats.org/officeDocument/2006/relationships/image" Target="../media/image43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1920449" y="2066478"/>
            <a:ext cx="8351100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>
                <a:solidFill>
                  <a:srgbClr val="315DB6"/>
                </a:solidFill>
                <a:latin typeface="Apple Garamond" panose="02000506080000020004" pitchFamily="2" charset="0"/>
                <a:ea typeface="AppleGothic" pitchFamily="2" charset="-127"/>
                <a:cs typeface="Montserrat"/>
                <a:sym typeface="Montserrat"/>
              </a:rPr>
              <a:t>Análisis de Riesgo</a:t>
            </a:r>
            <a:endParaRPr sz="7200">
              <a:solidFill>
                <a:srgbClr val="315DB6"/>
              </a:solidFill>
              <a:latin typeface="Apple Garamond" panose="02000506080000020004" pitchFamily="2" charset="0"/>
              <a:ea typeface="AppleGothic" pitchFamily="2" charset="-127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119350" y="3429000"/>
            <a:ext cx="795330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none" strike="noStrike" cap="none">
                <a:solidFill>
                  <a:srgbClr val="C2D2F0"/>
                </a:solidFill>
                <a:latin typeface="Aptos" panose="020B0004020202020204" pitchFamily="34" charset="0"/>
                <a:ea typeface="Natural Mono" panose="020B0609030804020204" pitchFamily="49" charset="0"/>
                <a:cs typeface="Natural Mono" panose="020B0609030804020204" pitchFamily="49" charset="0"/>
                <a:sym typeface="Open Sans SemiBold"/>
              </a:rPr>
              <a:t>Regresión Logística Explicable aplicada al Dataset </a:t>
            </a:r>
            <a:endParaRPr sz="2400" u="none" strike="noStrike" cap="none">
              <a:solidFill>
                <a:srgbClr val="C2D2F0"/>
              </a:solidFill>
              <a:latin typeface="Aptos" panose="020B0004020202020204" pitchFamily="34" charset="0"/>
              <a:ea typeface="Natural Mono" panose="020B0609030804020204" pitchFamily="49" charset="0"/>
              <a:cs typeface="Natural Mono" panose="020B0609030804020204" pitchFamily="49" charset="0"/>
              <a:sym typeface="Open Sans SemiBold"/>
            </a:endParaRPr>
          </a:p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2D2F0"/>
                </a:solidFill>
                <a:latin typeface="Aptos" panose="020B0004020202020204" pitchFamily="34" charset="0"/>
                <a:ea typeface="Natural Mono" panose="020B0609030804020204" pitchFamily="49" charset="0"/>
                <a:cs typeface="Natural Mono" panose="020B0609030804020204" pitchFamily="49" charset="0"/>
                <a:sym typeface="Open Sans SemiBold"/>
              </a:rPr>
              <a:t>FICO </a:t>
            </a:r>
            <a:r>
              <a:rPr lang="en-US" sz="2400" u="none" strike="noStrike" cap="none">
                <a:solidFill>
                  <a:srgbClr val="C2D2F0"/>
                </a:solidFill>
                <a:latin typeface="Aptos" panose="020B0004020202020204" pitchFamily="34" charset="0"/>
                <a:ea typeface="Natural Mono" panose="020B0609030804020204" pitchFamily="49" charset="0"/>
                <a:cs typeface="Natural Mono" panose="020B0609030804020204" pitchFamily="49" charset="0"/>
                <a:sym typeface="Open Sans SemiBold"/>
              </a:rPr>
              <a:t>HELOC: </a:t>
            </a:r>
            <a:endParaRPr sz="2400">
              <a:solidFill>
                <a:srgbClr val="C2D2F0"/>
              </a:solidFill>
              <a:latin typeface="Aptos" panose="020B0004020202020204" pitchFamily="34" charset="0"/>
              <a:ea typeface="Natural Mono" panose="020B0609030804020204" pitchFamily="49" charset="0"/>
              <a:cs typeface="Natural Mono" panose="020B0609030804020204" pitchFamily="49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832904" y="4610862"/>
            <a:ext cx="852619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u="none" strike="noStrike" cap="none">
                <a:solidFill>
                  <a:schemeClr val="tx1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En la era de la IA, la "caja negra" ya no es una opción para la banca europea.</a:t>
            </a:r>
            <a:endParaRPr sz="200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2F29A6-6D07-2D89-F312-225320B0ADD0}"/>
              </a:ext>
            </a:extLst>
          </p:cNvPr>
          <p:cNvSpPr txBox="1"/>
          <p:nvPr/>
        </p:nvSpPr>
        <p:spPr>
          <a:xfrm>
            <a:off x="4142342" y="-495759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6DB1A6-8915-8614-83E5-663DB5C03665}"/>
              </a:ext>
            </a:extLst>
          </p:cNvPr>
          <p:cNvSpPr txBox="1"/>
          <p:nvPr/>
        </p:nvSpPr>
        <p:spPr>
          <a:xfrm>
            <a:off x="543697" y="5705618"/>
            <a:ext cx="2091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Apple Garamond" panose="02000506080000020004" pitchFamily="2" charset="0"/>
              </a:rPr>
              <a:t>Benedict Bagoyo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709" y="2822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733831" y="1008102"/>
            <a:ext cx="505696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F172A"/>
                </a:solidFill>
                <a:latin typeface="Apple Garamond" panose="02000506080000020004" pitchFamily="2" charset="0"/>
                <a:sym typeface="Montserrat"/>
              </a:rPr>
              <a:t>Contexto económico y legal</a:t>
            </a:r>
            <a:endParaRPr sz="3600">
              <a:latin typeface="Apple Garamond" panose="02000506080000020004" pitchFamily="2" charset="0"/>
            </a:endParaRPr>
          </a:p>
        </p:txBody>
      </p:sp>
      <p:sp>
        <p:nvSpPr>
          <p:cNvPr id="94" name="Google Shape;94;p14"/>
          <p:cNvSpPr/>
          <p:nvPr/>
        </p:nvSpPr>
        <p:spPr>
          <a:xfrm flipV="1">
            <a:off x="762000" y="1754506"/>
            <a:ext cx="4837134" cy="45719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C2D2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3041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082108" y="2066925"/>
            <a:ext cx="4260396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15DB6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Regulación Estricta</a:t>
            </a:r>
            <a:r>
              <a:rPr lang="en-US" sz="1600" b="1" i="0" u="none" strike="noStrike" cap="none">
                <a:solidFill>
                  <a:srgbClr val="475569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:</a:t>
            </a:r>
            <a:r>
              <a:rPr lang="en-US" sz="1600" b="0" i="0" u="none" strike="noStrike" cap="none">
                <a:solidFill>
                  <a:srgbClr val="475569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 Bajo normativas como Basilea III y la inminente </a:t>
            </a:r>
            <a:r>
              <a:rPr lang="en-US" sz="1600" b="0" i="1" u="none" strike="noStrike" cap="none">
                <a:solidFill>
                  <a:srgbClr val="475569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EU AI Act</a:t>
            </a:r>
            <a:r>
              <a:rPr lang="en-US" sz="1600" b="0" i="0" u="none" strike="noStrike" cap="none">
                <a:solidFill>
                  <a:srgbClr val="475569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, las decisiones de crédito deben ser transparentes.</a:t>
            </a:r>
            <a:endParaRPr sz="1600">
              <a:latin typeface="Aptos" panose="020B0004020202020204" pitchFamily="34" charset="0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095375" y="3541075"/>
            <a:ext cx="4333875" cy="15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15DB6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El Límite del Machine Learning</a:t>
            </a:r>
            <a:r>
              <a:rPr lang="en-US" sz="1600" b="1" i="0" u="none" strike="noStrike" cap="none">
                <a:solidFill>
                  <a:srgbClr val="475569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:</a:t>
            </a:r>
            <a:r>
              <a:rPr lang="en-US" sz="1600" b="0" i="0" u="none" strike="noStrike" cap="none">
                <a:solidFill>
                  <a:srgbClr val="475569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 Algoritmos complejos (Redes Neuronales, Random Forests) logran gran precisión, pero no pueden explicar </a:t>
            </a:r>
            <a:r>
              <a:rPr lang="en-US" sz="1600" b="0" i="1" u="none" strike="noStrike" cap="none">
                <a:solidFill>
                  <a:srgbClr val="475569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por qué</a:t>
            </a:r>
            <a:r>
              <a:rPr lang="en-US" sz="1600" b="0" i="0" u="none" strike="noStrike" cap="none">
                <a:solidFill>
                  <a:srgbClr val="475569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 se denegó un crédito.</a:t>
            </a:r>
            <a:endParaRPr sz="1600">
              <a:latin typeface="Aptos" panose="020B0004020202020204" pitchFamily="34" charset="0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095375" y="5183441"/>
            <a:ext cx="4333875" cy="1132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15DB6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La Solución Clásica</a:t>
            </a:r>
            <a:r>
              <a:rPr lang="en-US" sz="1500" b="1" i="0" u="none" strike="noStrike" cap="none">
                <a:solidFill>
                  <a:srgbClr val="475569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 La regresión logística ofrece un equilibrio </a:t>
            </a:r>
            <a:r>
              <a:rPr lang="en-US" sz="1600" b="0" i="0" u="none" strike="noStrike" cap="none">
                <a:solidFill>
                  <a:srgbClr val="475569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perfecto</a:t>
            </a:r>
            <a:r>
              <a:rPr lang="en-US" sz="1500" b="0" i="0" u="none" strike="noStrike" cap="none">
                <a:solidFill>
                  <a:srgbClr val="475569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 entre rentabilidad (precisión predictiva) y auditabilidad (Odds Ratios).</a:t>
            </a:r>
            <a:endParaRPr>
              <a:latin typeface="Aptos" panose="020B0004020202020204" pitchFamily="34" charset="0"/>
            </a:endParaRPr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174718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3746" y="366280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5238" y="5260401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5">
          <a:extLst>
            <a:ext uri="{FF2B5EF4-FFF2-40B4-BE49-F238E27FC236}">
              <a16:creationId xmlns:a16="http://schemas.microsoft.com/office/drawing/2014/main" id="{CE6F3291-D206-26D4-1965-33FC3306F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>
            <a:extLst>
              <a:ext uri="{FF2B5EF4-FFF2-40B4-BE49-F238E27FC236}">
                <a16:creationId xmlns:a16="http://schemas.microsoft.com/office/drawing/2014/main" id="{D9CA11A0-833B-8881-29D2-3809A2B6E13A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>
            <a:extLst>
              <a:ext uri="{FF2B5EF4-FFF2-40B4-BE49-F238E27FC236}">
                <a16:creationId xmlns:a16="http://schemas.microsoft.com/office/drawing/2014/main" id="{E7F24448-3E76-EDFB-8CEA-D8FAD833D88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775" y="221932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>
            <a:extLst>
              <a:ext uri="{FF2B5EF4-FFF2-40B4-BE49-F238E27FC236}">
                <a16:creationId xmlns:a16="http://schemas.microsoft.com/office/drawing/2014/main" id="{9DDF1CE9-8D6F-6D73-87AB-63302084E7C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45074" y="221932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>
            <a:extLst>
              <a:ext uri="{FF2B5EF4-FFF2-40B4-BE49-F238E27FC236}">
                <a16:creationId xmlns:a16="http://schemas.microsoft.com/office/drawing/2014/main" id="{207919C7-E4E5-5691-E8E4-470B6E9AF08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23374" y="22193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584A702F-603C-0E68-FB7F-AD70682A183D}"/>
              </a:ext>
            </a:extLst>
          </p:cNvPr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F172A"/>
                </a:solidFill>
                <a:latin typeface="Apple Garamond" panose="02000506080000020004" pitchFamily="2" charset="0"/>
                <a:sym typeface="Montserrat"/>
              </a:rPr>
              <a:t>Análisis Exploratoria</a:t>
            </a:r>
            <a:endParaRPr sz="3600">
              <a:latin typeface="Apple Garamond" panose="02000506080000020004" pitchFamily="2" charset="0"/>
            </a:endParaRPr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8FF1F7A0-EB88-E02D-F1D3-491977703151}"/>
              </a:ext>
            </a:extLst>
          </p:cNvPr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34373A-CDBD-29E3-B971-965E91EF948B}"/>
              </a:ext>
            </a:extLst>
          </p:cNvPr>
          <p:cNvSpPr txBox="1"/>
          <p:nvPr/>
        </p:nvSpPr>
        <p:spPr>
          <a:xfrm>
            <a:off x="571499" y="1398007"/>
            <a:ext cx="1104899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Dataset HELOC: n = 9871 -&gt; 9682, variables iniciales = 24 (cuantitativas) =&gt; 4 variables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9A5C4F-A3E3-BD94-42E3-67A7E6E098E1}"/>
              </a:ext>
            </a:extLst>
          </p:cNvPr>
          <p:cNvSpPr txBox="1"/>
          <p:nvPr/>
        </p:nvSpPr>
        <p:spPr>
          <a:xfrm>
            <a:off x="1418897" y="-200747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CDC89268-1A9A-8786-6CC8-0EE73967D9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7763" y="1846491"/>
            <a:ext cx="5972735" cy="27958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32AC0D84-ED63-7E37-1363-674A049121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086" y="1846491"/>
            <a:ext cx="4891080" cy="47513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CF0B8ED-D9CF-DC06-1C97-799D588BDDEF}"/>
              </a:ext>
            </a:extLst>
          </p:cNvPr>
          <p:cNvSpPr/>
          <p:nvPr/>
        </p:nvSpPr>
        <p:spPr>
          <a:xfrm>
            <a:off x="571498" y="1838232"/>
            <a:ext cx="4891081" cy="2297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E1E9E4-F71D-4D38-1782-7FD94AB2FAFF}"/>
              </a:ext>
            </a:extLst>
          </p:cNvPr>
          <p:cNvSpPr/>
          <p:nvPr/>
        </p:nvSpPr>
        <p:spPr>
          <a:xfrm>
            <a:off x="561086" y="2797219"/>
            <a:ext cx="4891081" cy="2297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B00F91-D8E8-543E-734C-7A9523A1E7BC}"/>
              </a:ext>
            </a:extLst>
          </p:cNvPr>
          <p:cNvSpPr/>
          <p:nvPr/>
        </p:nvSpPr>
        <p:spPr>
          <a:xfrm>
            <a:off x="571498" y="5230258"/>
            <a:ext cx="4891081" cy="2297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3D0D96A-73DE-E940-4A60-E338ED77C28F}"/>
              </a:ext>
            </a:extLst>
          </p:cNvPr>
          <p:cNvSpPr/>
          <p:nvPr/>
        </p:nvSpPr>
        <p:spPr>
          <a:xfrm>
            <a:off x="561085" y="2087212"/>
            <a:ext cx="4891080" cy="2077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96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5">
          <a:extLst>
            <a:ext uri="{FF2B5EF4-FFF2-40B4-BE49-F238E27FC236}">
              <a16:creationId xmlns:a16="http://schemas.microsoft.com/office/drawing/2014/main" id="{6906C4C0-31B7-547D-0E68-D3D2187B3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>
            <a:extLst>
              <a:ext uri="{FF2B5EF4-FFF2-40B4-BE49-F238E27FC236}">
                <a16:creationId xmlns:a16="http://schemas.microsoft.com/office/drawing/2014/main" id="{16B6DB14-B73D-919B-E2AA-A41F27E74CD2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>
            <a:extLst>
              <a:ext uri="{FF2B5EF4-FFF2-40B4-BE49-F238E27FC236}">
                <a16:creationId xmlns:a16="http://schemas.microsoft.com/office/drawing/2014/main" id="{09087798-29BF-1AAD-582B-6A2D5EDE73E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775" y="221932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>
            <a:extLst>
              <a:ext uri="{FF2B5EF4-FFF2-40B4-BE49-F238E27FC236}">
                <a16:creationId xmlns:a16="http://schemas.microsoft.com/office/drawing/2014/main" id="{3EA4E533-228D-5258-578B-06E6D646862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45074" y="221932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>
            <a:extLst>
              <a:ext uri="{FF2B5EF4-FFF2-40B4-BE49-F238E27FC236}">
                <a16:creationId xmlns:a16="http://schemas.microsoft.com/office/drawing/2014/main" id="{879721F4-4616-C157-0567-F8BF9141DCD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23374" y="22193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7D801DF8-85A7-02A5-9004-AEE855AB8C40}"/>
              </a:ext>
            </a:extLst>
          </p:cNvPr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F172A"/>
                </a:solidFill>
                <a:latin typeface="Apple Garamond" panose="02000506080000020004" pitchFamily="2" charset="0"/>
                <a:sym typeface="Montserrat"/>
              </a:rPr>
              <a:t>Análisis Exploratoria</a:t>
            </a:r>
            <a:endParaRPr sz="3600">
              <a:latin typeface="Apple Garamond" panose="02000506080000020004" pitchFamily="2" charset="0"/>
            </a:endParaRPr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A95DB647-1C25-29F2-A27C-CD190F9157D6}"/>
              </a:ext>
            </a:extLst>
          </p:cNvPr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CF58D8-7200-66A5-E951-78BB83B33424}"/>
              </a:ext>
            </a:extLst>
          </p:cNvPr>
          <p:cNvSpPr txBox="1"/>
          <p:nvPr/>
        </p:nvSpPr>
        <p:spPr>
          <a:xfrm>
            <a:off x="1418897" y="-200747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4" name="Picture 3" descr="A graph of blue bars&#10;&#10;AI-generated content may be incorrect.">
            <a:extLst>
              <a:ext uri="{FF2B5EF4-FFF2-40B4-BE49-F238E27FC236}">
                <a16:creationId xmlns:a16="http://schemas.microsoft.com/office/drawing/2014/main" id="{B660E850-BFFC-703C-5C01-D69317C8E5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3969" y="1464668"/>
            <a:ext cx="3976120" cy="2501721"/>
          </a:xfrm>
          <a:prstGeom prst="rect">
            <a:avLst/>
          </a:prstGeom>
        </p:spPr>
      </p:pic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C459693D-8667-A242-2EC7-E75414639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1912" y="1482852"/>
            <a:ext cx="4266923" cy="2684690"/>
          </a:xfrm>
          <a:prstGeom prst="rect">
            <a:avLst/>
          </a:prstGeom>
        </p:spPr>
      </p:pic>
      <p:pic>
        <p:nvPicPr>
          <p:cNvPr id="8" name="Picture 7" descr="A graph of blue bars&#10;&#10;AI-generated content may be incorrect.">
            <a:extLst>
              <a:ext uri="{FF2B5EF4-FFF2-40B4-BE49-F238E27FC236}">
                <a16:creationId xmlns:a16="http://schemas.microsoft.com/office/drawing/2014/main" id="{89516C42-51DD-3000-93C7-2329CDAFC0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3970" y="4112594"/>
            <a:ext cx="3976120" cy="2599201"/>
          </a:xfrm>
          <a:prstGeom prst="rect">
            <a:avLst/>
          </a:prstGeom>
        </p:spPr>
      </p:pic>
      <p:pic>
        <p:nvPicPr>
          <p:cNvPr id="11" name="Picture 10" descr="A graph of blue lines&#10;&#10;AI-generated content may be incorrect.">
            <a:extLst>
              <a:ext uri="{FF2B5EF4-FFF2-40B4-BE49-F238E27FC236}">
                <a16:creationId xmlns:a16="http://schemas.microsoft.com/office/drawing/2014/main" id="{8372B933-FE7A-F314-B1C9-40A2251EDA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3639" y="4228937"/>
            <a:ext cx="3643468" cy="229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883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34424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28850"/>
            <a:ext cx="53340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28850"/>
            <a:ext cx="5334000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499" y="1485900"/>
            <a:ext cx="1077967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No incluimos las variables independientes al azar. Filtramos el ruido mediante tests rigurosos antes de entrenar el modelo.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62025" y="2619375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Variables Cuantitativas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62025" y="3086100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Utilizamos el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T-test de muestras independientes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62024" y="3533775"/>
            <a:ext cx="4631951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Comparamos la media del </a:t>
            </a:r>
            <a:r>
              <a:rPr lang="en-US" sz="1500" b="0" i="1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ExternalRiskEstimate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entre el grupo que paga y el que no. Si el p-valor es &lt; 0.05, confirmamos que la variable discrimina correctamente y la incluimos en el modelo.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677025" y="2619375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Variables Categóricas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677025" y="3086100"/>
            <a:ext cx="4552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Utilizamos pruebas de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Chi-cuadrado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().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677025" y="3533775"/>
            <a:ext cx="45529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Evaluamos si la proporción de impagos depende de características cualitativas. Adicionalmente, se podría analizar el </a:t>
            </a:r>
            <a:r>
              <a:rPr lang="en-US" sz="1500" b="0" i="1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VIF (Factor de Inflación de la Varianza)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para evitar multicolinealidad.</a:t>
            </a:r>
            <a:endParaRPr/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6479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647950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Apple Garamond" panose="02000506080000020004" pitchFamily="2" charset="0"/>
                <a:ea typeface="Montserrat"/>
                <a:cs typeface="Montserrat"/>
                <a:sym typeface="Montserrat"/>
              </a:rPr>
              <a:t>Selección Estadística de Variables</a:t>
            </a:r>
            <a:endParaRPr sz="3600">
              <a:latin typeface="Apple Garamond" panose="02000506080000020004" pitchFamily="2" charset="0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7">
          <a:extLst>
            <a:ext uri="{FF2B5EF4-FFF2-40B4-BE49-F238E27FC236}">
              <a16:creationId xmlns:a16="http://schemas.microsoft.com/office/drawing/2014/main" id="{E8619EF1-2A5E-DD8B-1A0D-48D6371CA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EC7524A7-0B9F-FD3B-8378-8F36A638BB32}"/>
              </a:ext>
            </a:extLst>
          </p:cNvPr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Apple Garamond" panose="02000506080000020004" pitchFamily="2" charset="0"/>
                <a:ea typeface="Montserrat"/>
                <a:cs typeface="Montserrat"/>
                <a:sym typeface="Montserrat"/>
              </a:rPr>
              <a:t>Selección Estadística de Variables</a:t>
            </a:r>
            <a:endParaRPr sz="3600">
              <a:latin typeface="Apple Garamond" panose="02000506080000020004" pitchFamily="2" charset="0"/>
            </a:endParaRPr>
          </a:p>
        </p:txBody>
      </p:sp>
      <p:sp>
        <p:nvSpPr>
          <p:cNvPr id="141" name="Google Shape;141;p16">
            <a:extLst>
              <a:ext uri="{FF2B5EF4-FFF2-40B4-BE49-F238E27FC236}">
                <a16:creationId xmlns:a16="http://schemas.microsoft.com/office/drawing/2014/main" id="{8223E653-BE7B-9CA7-BFD2-60A6B9CA4B59}"/>
              </a:ext>
            </a:extLst>
          </p:cNvPr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A screenshot of a test results&#10;&#10;AI-generated content may be incorrect.">
            <a:extLst>
              <a:ext uri="{FF2B5EF4-FFF2-40B4-BE49-F238E27FC236}">
                <a16:creationId xmlns:a16="http://schemas.microsoft.com/office/drawing/2014/main" id="{384FCA78-1533-EA30-06F4-3D2178C2A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841" y="1800225"/>
            <a:ext cx="9936317" cy="38290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46305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7">
          <a:extLst>
            <a:ext uri="{FF2B5EF4-FFF2-40B4-BE49-F238E27FC236}">
              <a16:creationId xmlns:a16="http://schemas.microsoft.com/office/drawing/2014/main" id="{28A2AA86-8A96-677B-BB56-C18C28152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032FA06F-9177-5DC4-2726-98775D37372C}"/>
              </a:ext>
            </a:extLst>
          </p:cNvPr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Apple Garamond" panose="02000506080000020004" pitchFamily="2" charset="0"/>
                <a:ea typeface="Montserrat"/>
                <a:cs typeface="Montserrat"/>
                <a:sym typeface="Montserrat"/>
              </a:rPr>
              <a:t>Selección Estadística de Variables</a:t>
            </a:r>
            <a:endParaRPr sz="3600">
              <a:latin typeface="Apple Garamond" panose="02000506080000020004" pitchFamily="2" charset="0"/>
            </a:endParaRPr>
          </a:p>
        </p:txBody>
      </p:sp>
      <p:sp>
        <p:nvSpPr>
          <p:cNvPr id="141" name="Google Shape;141;p16">
            <a:extLst>
              <a:ext uri="{FF2B5EF4-FFF2-40B4-BE49-F238E27FC236}">
                <a16:creationId xmlns:a16="http://schemas.microsoft.com/office/drawing/2014/main" id="{CC89AA41-C265-F550-DD0E-58C1CC2326B9}"/>
              </a:ext>
            </a:extLst>
          </p:cNvPr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527819FF-01EC-D137-A752-B0CD2E1C2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17" y="1755775"/>
            <a:ext cx="11183365" cy="38735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87624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4DFDF1A-59D0-7FDD-9BD0-A137304E4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274966"/>
            <a:ext cx="7772400" cy="32034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62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828800"/>
            <a:ext cx="3492549" cy="4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9799" y="1828800"/>
            <a:ext cx="3492549" cy="4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28099" y="1828800"/>
            <a:ext cx="3492549" cy="4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22193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866775" y="3219450"/>
            <a:ext cx="30470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none" strike="noStrike" cap="none">
                <a:solidFill>
                  <a:srgbClr val="0F172A"/>
                </a:solidFill>
                <a:latin typeface="Apple Garamond" panose="02000506080000020004" pitchFamily="2" charset="0"/>
                <a:ea typeface="Montserrat SemiBold"/>
                <a:cs typeface="Montserrat SemiBold"/>
                <a:sym typeface="Montserrat SemiBold"/>
              </a:rPr>
              <a:t>Variable Dependiente (Y)</a:t>
            </a:r>
            <a:endParaRPr sz="2400">
              <a:latin typeface="Apple Garamond" panose="02000506080000020004" pitchFamily="2" charset="0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866774" y="3860121"/>
            <a:ext cx="2901999" cy="1535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15DB6"/>
                </a:solidFill>
                <a:latin typeface="Aptos" panose="020B0004020202020204" pitchFamily="34" charset="0"/>
                <a:ea typeface="Open Sans SemiBold"/>
                <a:cs typeface="Open Sans SemiBold"/>
                <a:sym typeface="Open Sans SemiBold"/>
              </a:rPr>
              <a:t>RiskPerformance -&gt; Target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Transformada a binaria: </a:t>
            </a:r>
            <a:r>
              <a:rPr lang="en-US" sz="1500" b="0" i="0" u="none" strike="noStrike" cap="none">
                <a:solidFill>
                  <a:srgbClr val="F43F5E"/>
                </a:solidFill>
                <a:latin typeface="Aptos" panose="020B0004020202020204" pitchFamily="34" charset="0"/>
                <a:ea typeface="Open Sans SemiBold"/>
                <a:cs typeface="Open Sans SemiBold"/>
                <a:sym typeface="Open Sans SemiBold"/>
              </a:rPr>
              <a:t>1 = Bad (Impago)</a:t>
            </a:r>
            <a:r>
              <a:rPr lang="en-US" sz="1500" b="0" i="0" u="none" strike="noStrike" cap="none">
                <a:solidFill>
                  <a:srgbClr val="475569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 y </a:t>
            </a:r>
            <a:r>
              <a:rPr lang="en-US" sz="1500" b="0" i="0" u="none" strike="noStrike" cap="none">
                <a:solidFill>
                  <a:srgbClr val="10B981"/>
                </a:solidFill>
                <a:latin typeface="Aptos" panose="020B0004020202020204" pitchFamily="34" charset="0"/>
                <a:ea typeface="Open Sans SemiBold"/>
                <a:cs typeface="Open Sans SemiBold"/>
                <a:sym typeface="Open Sans SemiBold"/>
              </a:rPr>
              <a:t>0 = Good (Paga)</a:t>
            </a:r>
            <a:r>
              <a:rPr lang="en-US" sz="1500" b="0" i="0" u="none" strike="noStrike" cap="none">
                <a:solidFill>
                  <a:srgbClr val="475569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. Modelaremos la probabilidad de pertenecer a la clase 1.</a:t>
            </a:r>
            <a:endParaRPr>
              <a:latin typeface="Aptos" panose="020B0004020202020204" pitchFamily="34" charset="0"/>
            </a:endParaRPr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45074" y="22193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45074" y="3219450"/>
            <a:ext cx="30470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Apple Garamond" panose="02000506080000020004" pitchFamily="2" charset="0"/>
                <a:ea typeface="Montserrat SemiBold"/>
                <a:cs typeface="Montserrat SemiBold"/>
                <a:sym typeface="Montserrat SemiBold"/>
              </a:rPr>
              <a:t>Covariables</a:t>
            </a:r>
            <a:endParaRPr sz="2400">
              <a:latin typeface="Apple Garamond" panose="02000506080000020004" pitchFamily="2" charset="0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4645074" y="3863143"/>
            <a:ext cx="2901999" cy="2128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cap="none">
                <a:solidFill>
                  <a:srgbClr val="315DB6"/>
                </a:solidFill>
                <a:latin typeface="Aptos" panose="020B0004020202020204" pitchFamily="34" charset="0"/>
                <a:ea typeface="Open Sans SemiBold"/>
                <a:cs typeface="Open Sans SemiBold"/>
                <a:sym typeface="Open Sans SemiBold"/>
              </a:rPr>
              <a:t>ExternalRiskEstimate</a:t>
            </a:r>
            <a:br>
              <a:rPr lang="en-US" b="0" i="0" u="none" strike="noStrike" cap="none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Score crediticio consolidado externo. Hipótesis económica: a menor puntuación, mayor probabilidad de colapso financiero.</a:t>
            </a:r>
          </a:p>
          <a:p>
            <a:pPr marL="285750" marR="0" lvl="0" indent="-28575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rgbClr val="315DB6"/>
                </a:solidFill>
                <a:latin typeface="Aptos" panose="020B0004020202020204" pitchFamily="34" charset="0"/>
                <a:ea typeface="Open Sans SemiBold"/>
                <a:cs typeface="Open Sans SemiBold"/>
                <a:sym typeface="Open Sans SemiBold"/>
              </a:rPr>
              <a:t>N</a:t>
            </a:r>
            <a:r>
              <a:rPr lang="en-US" b="0" i="0" u="none" strike="noStrike" cap="none">
                <a:solidFill>
                  <a:srgbClr val="315DB6"/>
                </a:solidFill>
                <a:latin typeface="Aptos" panose="020B0004020202020204" pitchFamily="34" charset="0"/>
                <a:ea typeface="Open Sans SemiBold"/>
                <a:cs typeface="Open Sans SemiBold"/>
                <a:sym typeface="Open Sans SemiBold"/>
              </a:rPr>
              <a:t>etFracRevolBurden</a:t>
            </a:r>
          </a:p>
          <a:p>
            <a:pPr marL="285750" marR="0" lvl="0" indent="-28575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rgbClr val="315DB6"/>
                </a:solidFill>
                <a:latin typeface="Aptos" panose="020B0004020202020204" pitchFamily="34" charset="0"/>
                <a:ea typeface="Open Sans SemiBold"/>
                <a:cs typeface="Open Sans SemiBold"/>
                <a:sym typeface="Open Sans SemiBold"/>
              </a:rPr>
              <a:t>NumSatisfactoryTrades</a:t>
            </a:r>
            <a:endParaRPr lang="en-US" b="0" i="0" u="none" strike="noStrike" cap="none">
              <a:solidFill>
                <a:srgbClr val="315DB6"/>
              </a:solidFill>
              <a:latin typeface="Aptos" panose="020B0004020202020204" pitchFamily="34" charset="0"/>
              <a:ea typeface="Open Sans SemiBold"/>
              <a:cs typeface="Open Sans SemiBold"/>
              <a:sym typeface="Open Sans SemiBold"/>
            </a:endParaRPr>
          </a:p>
          <a:p>
            <a:pPr marL="285750" marR="0" lvl="0" indent="-28575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>
              <a:latin typeface="Aptos" panose="020B0004020202020204" pitchFamily="34" charset="0"/>
            </a:endParaRPr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423374" y="22193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8423374" y="3219450"/>
            <a:ext cx="30470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Apple Garamond" panose="02000506080000020004" pitchFamily="2" charset="0"/>
                <a:ea typeface="Montserrat SemiBold"/>
                <a:cs typeface="Montserrat SemiBold"/>
                <a:sym typeface="Montserrat SemiBold"/>
              </a:rPr>
              <a:t>Comportamiento</a:t>
            </a:r>
            <a:endParaRPr sz="2400">
              <a:latin typeface="Apple Garamond" panose="02000506080000020004" pitchFamily="2" charset="0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8423227" y="3860121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15DB6"/>
                </a:solidFill>
                <a:latin typeface="Aptos" panose="020B0004020202020204" pitchFamily="34" charset="0"/>
                <a:ea typeface="Open Sans SemiBold"/>
                <a:cs typeface="Open Sans SemiBold"/>
                <a:sym typeface="Open Sans SemiBold"/>
              </a:rPr>
              <a:t>NetFractionRevolvingBurden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Porcentaje de uso límite de las tarjetas. Un indicador crítico de asfixia de liquidez a corto plazo en el cliente.</a:t>
            </a:r>
            <a:endParaRPr>
              <a:latin typeface="Aptos" panose="020B0004020202020204" pitchFamily="34" charset="0"/>
            </a:endParaRPr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57275" y="24098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811762" y="240982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590061" y="240982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Apple Garamond" panose="02000506080000020004" pitchFamily="2" charset="0"/>
                <a:ea typeface="Montserrat"/>
                <a:cs typeface="Montserrat"/>
                <a:sym typeface="Montserrat"/>
              </a:rPr>
              <a:t>Definición de Variables Clave</a:t>
            </a:r>
            <a:endParaRPr sz="3600">
              <a:latin typeface="Apple Garamond" panose="02000506080000020004" pitchFamily="2" charset="0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1075F3-FAF3-0CFD-1646-26DC812FD354}"/>
              </a:ext>
            </a:extLst>
          </p:cNvPr>
          <p:cNvSpPr txBox="1"/>
          <p:nvPr/>
        </p:nvSpPr>
        <p:spPr>
          <a:xfrm>
            <a:off x="571500" y="1398007"/>
            <a:ext cx="1075372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Dataset HELOC: n = 9671, variable de interés: 4, Tasa de default (Bad): 51.49%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AE181-8598-F6BB-C6C0-64B430C7B610}"/>
              </a:ext>
            </a:extLst>
          </p:cNvPr>
          <p:cNvSpPr txBox="1"/>
          <p:nvPr/>
        </p:nvSpPr>
        <p:spPr>
          <a:xfrm>
            <a:off x="1418897" y="-200747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7">
          <a:extLst>
            <a:ext uri="{FF2B5EF4-FFF2-40B4-BE49-F238E27FC236}">
              <a16:creationId xmlns:a16="http://schemas.microsoft.com/office/drawing/2014/main" id="{9356AC12-4DC0-78EC-D016-B28CA16F1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>
            <a:extLst>
              <a:ext uri="{FF2B5EF4-FFF2-40B4-BE49-F238E27FC236}">
                <a16:creationId xmlns:a16="http://schemas.microsoft.com/office/drawing/2014/main" id="{5D10E5B0-F38B-D2C5-4D00-D9F674F658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BA815E79-A193-8039-14F3-7CBA05CB5974}"/>
              </a:ext>
            </a:extLst>
          </p:cNvPr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F172A"/>
                </a:solidFill>
                <a:latin typeface="Apple Garamond" panose="02000506080000020004" pitchFamily="2" charset="0"/>
                <a:sym typeface="Montserrat"/>
              </a:rPr>
              <a:t>Tratamiento de las variables cualitativas con categorías</a:t>
            </a:r>
            <a:endParaRPr sz="3600">
              <a:latin typeface="Apple Garamond" panose="02000506080000020004" pitchFamily="2" charset="0"/>
            </a:endParaRPr>
          </a:p>
        </p:txBody>
      </p:sp>
      <p:sp>
        <p:nvSpPr>
          <p:cNvPr id="141" name="Google Shape;141;p16">
            <a:extLst>
              <a:ext uri="{FF2B5EF4-FFF2-40B4-BE49-F238E27FC236}">
                <a16:creationId xmlns:a16="http://schemas.microsoft.com/office/drawing/2014/main" id="{C225BA2F-E8F7-B3E2-241E-06D8FB9FFC2F}"/>
              </a:ext>
            </a:extLst>
          </p:cNvPr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29;p16" descr="image.png">
            <a:extLst>
              <a:ext uri="{FF2B5EF4-FFF2-40B4-BE49-F238E27FC236}">
                <a16:creationId xmlns:a16="http://schemas.microsoft.com/office/drawing/2014/main" id="{83912E52-1486-2677-A35D-1A48D8177BA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28887"/>
            <a:ext cx="5334000" cy="30575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3" name="Google Shape;129;p16" descr="image.png">
            <a:extLst>
              <a:ext uri="{FF2B5EF4-FFF2-40B4-BE49-F238E27FC236}">
                <a16:creationId xmlns:a16="http://schemas.microsoft.com/office/drawing/2014/main" id="{4AF49BF7-0244-E000-51AA-F2BEAF61D84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2" y="2528886"/>
            <a:ext cx="5333998" cy="30575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134775-6299-3B26-0BC7-25EC8B422475}"/>
              </a:ext>
            </a:extLst>
          </p:cNvPr>
          <p:cNvSpPr txBox="1"/>
          <p:nvPr/>
        </p:nvSpPr>
        <p:spPr>
          <a:xfrm>
            <a:off x="766118" y="2743200"/>
            <a:ext cx="472028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315DB6"/>
                </a:solidFill>
                <a:latin typeface="Aptos" panose="020B0004020202020204" pitchFamily="34" charset="0"/>
                <a:ea typeface="Open Sans SemiBold"/>
                <a:cs typeface="Open Sans SemiBold"/>
                <a:sym typeface="Open Sans SemiBold"/>
              </a:rPr>
              <a:t>A</a:t>
            </a:r>
            <a:r>
              <a:rPr lang="en-US" sz="3200" b="0" i="0" u="none" strike="noStrike" cap="none">
                <a:solidFill>
                  <a:srgbClr val="315DB6"/>
                </a:solidFill>
                <a:latin typeface="Aptos" panose="020B0004020202020204" pitchFamily="34" charset="0"/>
                <a:ea typeface="Open Sans SemiBold"/>
                <a:cs typeface="Open Sans SemiBold"/>
                <a:sym typeface="Open Sans SemiBold"/>
              </a:rPr>
              <a:t>grupamiento semántico</a:t>
            </a:r>
            <a:br>
              <a:rPr lang="en-US" sz="1600" b="0" i="0" u="none" strike="noStrike" cap="none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</a:br>
            <a:r>
              <a:rPr lang="en-US" sz="2400" b="0" i="0" u="none" strike="noStrike" cap="none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Evitar introducir variables categóricas con más de 4 o 5.</a:t>
            </a:r>
          </a:p>
          <a:p>
            <a:endParaRPr lang="en-US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1B4C61-7597-5047-5A54-83F4FDF8AFCF}"/>
              </a:ext>
            </a:extLst>
          </p:cNvPr>
          <p:cNvSpPr txBox="1"/>
          <p:nvPr/>
        </p:nvSpPr>
        <p:spPr>
          <a:xfrm>
            <a:off x="6462584" y="2743200"/>
            <a:ext cx="389237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315DB6"/>
                </a:solidFill>
                <a:latin typeface="Aptos" panose="020B0004020202020204" pitchFamily="34" charset="0"/>
                <a:ea typeface="Open Sans SemiBold"/>
                <a:cs typeface="Open Sans SemiBold"/>
                <a:sym typeface="Open Sans SemiBold"/>
              </a:rPr>
              <a:t>Variables dummy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Aptos" panose="020B0004020202020204" pitchFamily="34" charset="0"/>
              </a:rPr>
              <a:t>Definir la categoría de referencia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Aptos" panose="020B0004020202020204" pitchFamily="34" charset="0"/>
              </a:rPr>
              <a:t>Trabajar con variables binarias (0/1).</a:t>
            </a:r>
          </a:p>
        </p:txBody>
      </p:sp>
    </p:spTree>
    <p:extLst>
      <p:ext uri="{BB962C8B-B14F-4D97-AF65-F5344CB8AC3E}">
        <p14:creationId xmlns:p14="http://schemas.microsoft.com/office/powerpoint/2010/main" val="3692139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7">
          <a:extLst>
            <a:ext uri="{FF2B5EF4-FFF2-40B4-BE49-F238E27FC236}">
              <a16:creationId xmlns:a16="http://schemas.microsoft.com/office/drawing/2014/main" id="{977FEAE1-BC50-F9CC-3B46-2C735E615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>
            <a:extLst>
              <a:ext uri="{FF2B5EF4-FFF2-40B4-BE49-F238E27FC236}">
                <a16:creationId xmlns:a16="http://schemas.microsoft.com/office/drawing/2014/main" id="{7F5417BB-3C72-E4CE-36D0-69806EBBB9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792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726B97FB-5364-171C-85C2-09AD977FFE58}"/>
              </a:ext>
            </a:extLst>
          </p:cNvPr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F172A"/>
                </a:solidFill>
                <a:latin typeface="Apple Garamond" panose="02000506080000020004" pitchFamily="2" charset="0"/>
                <a:sym typeface="Montserrat"/>
              </a:rPr>
              <a:t>Train-test split para el modelo (70% - 30%) </a:t>
            </a:r>
            <a:endParaRPr sz="3600">
              <a:latin typeface="Apple Garamond" panose="02000506080000020004" pitchFamily="2" charset="0"/>
            </a:endParaRPr>
          </a:p>
        </p:txBody>
      </p:sp>
      <p:sp>
        <p:nvSpPr>
          <p:cNvPr id="141" name="Google Shape;141;p16">
            <a:extLst>
              <a:ext uri="{FF2B5EF4-FFF2-40B4-BE49-F238E27FC236}">
                <a16:creationId xmlns:a16="http://schemas.microsoft.com/office/drawing/2014/main" id="{87A20453-9B36-E40E-744B-352186741EC3}"/>
              </a:ext>
            </a:extLst>
          </p:cNvPr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29;p16" descr="image.png">
            <a:extLst>
              <a:ext uri="{FF2B5EF4-FFF2-40B4-BE49-F238E27FC236}">
                <a16:creationId xmlns:a16="http://schemas.microsoft.com/office/drawing/2014/main" id="{8ADF2E33-6C05-215A-C473-31A0C7D093B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28887"/>
            <a:ext cx="5334000" cy="30575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3" name="Google Shape;129;p16" descr="image.png">
            <a:extLst>
              <a:ext uri="{FF2B5EF4-FFF2-40B4-BE49-F238E27FC236}">
                <a16:creationId xmlns:a16="http://schemas.microsoft.com/office/drawing/2014/main" id="{AF8798CB-C24A-25BF-8892-66EEDF37EDF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2" y="2528886"/>
            <a:ext cx="5333998" cy="30575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5" name="Picture 4" descr="A screenshot of a data&#10;&#10;AI-generated content may be incorrect.">
            <a:extLst>
              <a:ext uri="{FF2B5EF4-FFF2-40B4-BE49-F238E27FC236}">
                <a16:creationId xmlns:a16="http://schemas.microsoft.com/office/drawing/2014/main" id="{DCCFE3A5-80C5-9958-A15D-7E11B297DE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2635248"/>
            <a:ext cx="4953000" cy="2844800"/>
          </a:xfrm>
          <a:prstGeom prst="rect">
            <a:avLst/>
          </a:prstGeom>
        </p:spPr>
      </p:pic>
      <p:pic>
        <p:nvPicPr>
          <p:cNvPr id="7" name="Picture 6" descr="A screenshot of a logistic results&#10;&#10;AI-generated content may be incorrect.">
            <a:extLst>
              <a:ext uri="{FF2B5EF4-FFF2-40B4-BE49-F238E27FC236}">
                <a16:creationId xmlns:a16="http://schemas.microsoft.com/office/drawing/2014/main" id="{9249527B-2CCE-8C74-7439-9EC8A6A3DE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211" y="3220890"/>
            <a:ext cx="5232578" cy="1673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13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76475"/>
            <a:ext cx="11049000" cy="34671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Google Shape;161;p18"/>
              <p:cNvSpPr txBox="1"/>
              <p:nvPr/>
            </p:nvSpPr>
            <p:spPr>
              <a:xfrm>
                <a:off x="571500" y="1638300"/>
                <a:ext cx="10772775" cy="5909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r>
                  <a:rPr lang="en-US" sz="1500" b="0" i="0" u="none" strike="noStrike" cap="none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Ajuste por Máxima Verosimilitud (MLE). </a:t>
                </a:r>
                <a:r>
                  <a:rPr lang="en-US" sz="1600">
                    <a:solidFill>
                      <a:srgbClr val="475569"/>
                    </a:solidFill>
                    <a:latin typeface="Aptos" panose="020B0004020202020204" pitchFamily="34" charset="0"/>
                    <a:ea typeface="Open Sans"/>
                    <a:cs typeface="Open Sans"/>
                    <a:sym typeface="Open Sans"/>
                  </a:rPr>
                  <a:t>y </a:t>
                </a:r>
                <a14:m>
                  <m:oMath xmlns:m="http://schemas.openxmlformats.org/officeDocument/2006/math">
                    <m:r>
                      <a:rPr lang="es-ES" sz="1600" b="1" i="1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Open Sans"/>
                        <a:cs typeface="Open Sans"/>
                        <a:sym typeface="Open Sans"/>
                      </a:rPr>
                      <m:t>=</m:t>
                    </m:r>
                    <m:sSub>
                      <m:sSubPr>
                        <m:ctrlPr>
                          <a:rPr lang="es-ES" sz="1600" b="1" i="1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/>
                            <a:sym typeface="Open Sans"/>
                          </a:rPr>
                        </m:ctrlPr>
                      </m:sSubPr>
                      <m:e>
                        <m:r>
                          <a:rPr lang="es-ES" sz="1600" b="1" i="1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/>
                            <a:sym typeface="Open Sans"/>
                          </a:rPr>
                          <m:t>𝜷</m:t>
                        </m:r>
                      </m:e>
                      <m:sub>
                        <m:r>
                          <a:rPr lang="es-ES" sz="1600" b="1" i="1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/>
                            <a:sym typeface="Open Sans"/>
                          </a:rPr>
                          <m:t>𝟎</m:t>
                        </m:r>
                      </m:sub>
                    </m:sSub>
                    <m:r>
                      <a:rPr lang="es-ES" sz="1600" b="1" i="1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/>
                        <a:sym typeface="Open Sans"/>
                      </a:rPr>
                      <m:t>+</m:t>
                    </m:r>
                    <m:sSub>
                      <m:sSubPr>
                        <m:ctrlPr>
                          <a:rPr lang="es-ES" sz="1600" b="1" i="1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/>
                            <a:sym typeface="Open Sans"/>
                          </a:rPr>
                        </m:ctrlPr>
                      </m:sSubPr>
                      <m:e>
                        <m:r>
                          <a:rPr lang="es-ES" sz="1600" b="1" i="1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/>
                            <a:sym typeface="Open Sans"/>
                          </a:rPr>
                          <m:t>𝜷</m:t>
                        </m:r>
                      </m:e>
                      <m:sub>
                        <m:r>
                          <a:rPr lang="es-ES" sz="1600" b="1" i="1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/>
                            <a:sym typeface="Open Sans"/>
                          </a:rPr>
                          <m:t>𝟏</m:t>
                        </m:r>
                      </m:sub>
                    </m:sSub>
                    <m:r>
                      <a:rPr lang="es-ES" sz="1600" b="1" i="1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/>
                        <a:sym typeface="Open Sans"/>
                      </a:rPr>
                      <m:t>×</m:t>
                    </m:r>
                    <m:r>
                      <a:rPr lang="es-ES" sz="1600" b="1" i="1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/>
                        <a:sym typeface="Open Sans"/>
                      </a:rPr>
                      <m:t>𝑬𝑹𝑬</m:t>
                    </m:r>
                    <m:r>
                      <a:rPr lang="es-ES" sz="1600" b="1" i="1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/>
                        <a:sym typeface="Open Sans"/>
                      </a:rPr>
                      <m:t>+</m:t>
                    </m:r>
                    <m:sSub>
                      <m:sSubPr>
                        <m:ctrlPr>
                          <a:rPr lang="es-ES" sz="1600" b="1" i="1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/>
                            <a:sym typeface="Open Sans"/>
                          </a:rPr>
                        </m:ctrlPr>
                      </m:sSubPr>
                      <m:e>
                        <m:r>
                          <a:rPr lang="es-ES" sz="1600" b="1" i="1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/>
                            <a:sym typeface="Open Sans"/>
                          </a:rPr>
                          <m:t>𝜷</m:t>
                        </m:r>
                      </m:e>
                      <m:sub>
                        <m:r>
                          <a:rPr lang="es-ES" sz="1600" b="1" i="1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/>
                            <a:sym typeface="Open Sans"/>
                          </a:rPr>
                          <m:t>𝟐</m:t>
                        </m:r>
                      </m:sub>
                    </m:sSub>
                    <m:r>
                      <a:rPr lang="es-ES" sz="1600" b="1" i="1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/>
                        <a:sym typeface="Open Sans"/>
                      </a:rPr>
                      <m:t>×</m:t>
                    </m:r>
                    <m:r>
                      <a:rPr lang="es-ES" sz="1600" b="1" i="1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/>
                        <a:sym typeface="Open Sans"/>
                      </a:rPr>
                      <m:t>𝑵𝑭𝑹𝑳</m:t>
                    </m:r>
                    <m:r>
                      <a:rPr lang="es-ES" sz="1600" b="1" i="1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/>
                        <a:sym typeface="Open Sans"/>
                      </a:rPr>
                      <m:t>+</m:t>
                    </m:r>
                    <m:sSub>
                      <m:sSubPr>
                        <m:ctrlPr>
                          <a:rPr lang="es-ES" sz="1600" b="1" i="1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/>
                            <a:sym typeface="Open Sans"/>
                          </a:rPr>
                        </m:ctrlPr>
                      </m:sSubPr>
                      <m:e>
                        <m:r>
                          <a:rPr lang="es-ES" sz="1600" b="1" i="1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/>
                            <a:sym typeface="Open Sans"/>
                          </a:rPr>
                          <m:t>𝜷</m:t>
                        </m:r>
                      </m:e>
                      <m:sub>
                        <m:r>
                          <a:rPr lang="es-ES" sz="1600" b="1" i="1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/>
                            <a:sym typeface="Open Sans"/>
                          </a:rPr>
                          <m:t>𝟐</m:t>
                        </m:r>
                      </m:sub>
                    </m:sSub>
                    <m:r>
                      <a:rPr lang="es-ES" sz="1600" b="1" i="1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/>
                        <a:sym typeface="Open Sans"/>
                      </a:rPr>
                      <m:t>×</m:t>
                    </m:r>
                    <m:r>
                      <a:rPr lang="es-ES" sz="1600" b="1" i="1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/>
                        <a:sym typeface="Open Sans"/>
                      </a:rPr>
                      <m:t>𝑵𝑺𝑻</m:t>
                    </m:r>
                  </m:oMath>
                </a14:m>
                <a:endParaRPr lang="en-US" sz="1600">
                  <a:latin typeface="Aptos" panose="020B0004020202020204" pitchFamily="34" charset="0"/>
                </a:endParaRPr>
              </a:p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/>
              </a:p>
            </p:txBody>
          </p:sp>
        </mc:Choice>
        <mc:Fallback xmlns="">
          <p:sp>
            <p:nvSpPr>
              <p:cNvPr id="161" name="Google Shape;161;p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638300"/>
                <a:ext cx="10772775" cy="590931"/>
              </a:xfrm>
              <a:prstGeom prst="rect">
                <a:avLst/>
              </a:prstGeom>
              <a:blipFill>
                <a:blip r:embed="rId5"/>
                <a:stretch>
                  <a:fillRect l="-1060" t="-127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2" name="Google Shape;162;p18"/>
              <p:cNvGraphicFramePr/>
              <p:nvPr>
                <p:extLst>
                  <p:ext uri="{D42A27DB-BD31-4B8C-83A1-F6EECF244321}">
                    <p14:modId xmlns:p14="http://schemas.microsoft.com/office/powerpoint/2010/main" val="3478623776"/>
                  </p:ext>
                </p:extLst>
              </p:nvPr>
            </p:nvGraphicFramePr>
            <p:xfrm>
              <a:off x="571500" y="2276475"/>
              <a:ext cx="11049000" cy="3540780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{DB989710-9016-4797-96AD-5364B75FA817}</a:tableStyleId>
                  </a:tblPr>
                  <a:tblGrid>
                    <a:gridCol w="27165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67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887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9142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585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93425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1" i="0" u="none" strike="noStrike" cap="none">
                              <a:solidFill>
                                <a:srgbClr val="0F172A"/>
                              </a:solidFill>
                              <a:latin typeface="Montserrat"/>
                              <a:ea typeface="Montserrat"/>
                              <a:cs typeface="Montserrat"/>
                              <a:sym typeface="Montserrat"/>
                            </a:rPr>
                            <a:t>Covariable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1" i="0" u="none" strike="noStrike" cap="none">
                              <a:solidFill>
                                <a:srgbClr val="0F172A"/>
                              </a:solidFill>
                              <a:latin typeface="Montserrat"/>
                              <a:ea typeface="Montserrat"/>
                              <a:cs typeface="Montserrat"/>
                              <a:sym typeface="Montserrat"/>
                            </a:rPr>
                            <a:t>Coeficiente(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500" b="1" i="1" u="none" strike="noStrike" cap="none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Montserrat"/>
                                      <a:sym typeface="Montserrat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1" i="1" u="none" strike="noStrike" cap="none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Montserrat"/>
                                      <a:sym typeface="Montserrat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es-ES" sz="1500" b="1" i="1" u="none" strike="noStrike" cap="none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Montserrat"/>
                                      <a:sym typeface="Montserrat"/>
                                    </a:rPr>
                                    <m:t>𝒌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500" b="1" i="0" u="none" strike="noStrike" cap="none">
                              <a:solidFill>
                                <a:srgbClr val="0F172A"/>
                              </a:solidFill>
                              <a:latin typeface="Montserrat"/>
                              <a:ea typeface="Montserrat"/>
                              <a:cs typeface="Montserrat"/>
                              <a:sym typeface="Montserrat"/>
                            </a:rPr>
                            <a:t>)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1" i="0" u="none" strike="noStrike" cap="none">
                              <a:solidFill>
                                <a:srgbClr val="0F172A"/>
                              </a:solidFill>
                              <a:latin typeface="Montserrat"/>
                              <a:ea typeface="Montserrat"/>
                              <a:cs typeface="Montserrat"/>
                              <a:sym typeface="Montserrat"/>
                            </a:rPr>
                            <a:t>Z (Wald)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1" i="0" u="none" strike="noStrike" cap="none">
                              <a:solidFill>
                                <a:srgbClr val="0F172A"/>
                              </a:solidFill>
                              <a:latin typeface="Montserrat"/>
                              <a:ea typeface="Montserrat"/>
                              <a:cs typeface="Montserrat"/>
                              <a:sym typeface="Montserrat"/>
                            </a:rPr>
                            <a:t>P &gt; |z|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1" i="0" u="none" strike="noStrike" cap="none">
                              <a:solidFill>
                                <a:srgbClr val="0F172A"/>
                              </a:solidFill>
                              <a:latin typeface="Montserrat"/>
                              <a:ea typeface="Montserrat"/>
                              <a:cs typeface="Montserrat"/>
                              <a:sym typeface="Montserrat"/>
                            </a:rPr>
                            <a:t>Interval Conf. (95%)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1F5F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93425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Intercepto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500" b="0" i="1" u="none" strike="noStrike" cap="none">
                                      <a:solidFill>
                                        <a:srgbClr val="334155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/>
                                      <a:sym typeface="Open Sans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 u="none" strike="noStrike" cap="none">
                                      <a:solidFill>
                                        <a:srgbClr val="334155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/>
                                      <a:sym typeface="Open Sans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ES" sz="1500" b="0" i="1" u="none" strike="noStrike" cap="none">
                                      <a:solidFill>
                                        <a:srgbClr val="334155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/>
                                      <a:sym typeface="Open Sans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)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      7.3944 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  23.372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&lt; 0.001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     [6.7743, 8.0145] 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93425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ExternalRiskEstimate</a:t>
                          </a: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 b="1">
                              <a:latin typeface="Aptos" panose="020B0004020202020204" pitchFamily="34" charset="0"/>
                            </a:rPr>
                            <a:t>Score crediticio</a:t>
                          </a:r>
                          <a:endParaRPr sz="1600" b="1">
                            <a:latin typeface="Aptos" panose="020B0004020202020204" pitchFamily="34" charset="0"/>
                          </a:endParaRPr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     -0.0969 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 -25.238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&lt; 0.001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   [-0.1044, -0.0894] 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93425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NetFracRevolBurden</a:t>
                          </a: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1" i="0" u="none" strike="noStrike" cap="none">
                              <a:solidFill>
                                <a:srgbClr val="334155"/>
                              </a:solidFill>
                              <a:latin typeface="Aptos" panose="020B0004020202020204" pitchFamily="34" charset="0"/>
                              <a:ea typeface="Open Sans"/>
                              <a:cs typeface="Open Sans"/>
                              <a:sym typeface="Open Sans"/>
                            </a:rPr>
                            <a:t>Porcentaje de uso de tarjetas</a:t>
                          </a:r>
                          <a:endParaRPr sz="1600" b="1">
                            <a:latin typeface="Aptos" panose="020B0004020202020204" pitchFamily="34" charset="0"/>
                          </a:endParaRPr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      0.0079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   6.384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&lt; 0.001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    [0.0055, 0.0103]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93425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NumSatisfactoryTrades</a:t>
                          </a: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 b="1">
                              <a:latin typeface="Aptos" panose="020B0004020202020204" pitchFamily="34" charset="0"/>
                            </a:rPr>
                            <a:t>Número de cuentas diarias</a:t>
                          </a:r>
                          <a:endParaRPr sz="1600" b="1">
                            <a:latin typeface="Aptos" panose="020B0004020202020204" pitchFamily="34" charset="0"/>
                          </a:endParaRPr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     -0.0275 </a:t>
                          </a:r>
                          <a:endParaRPr lang="en-US"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-10.880</a:t>
                          </a:r>
                          <a:endParaRPr lang="en-US"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&lt; 0.001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   [-0.0325, -0.0226] 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2" name="Google Shape;162;p18"/>
              <p:cNvGraphicFramePr/>
              <p:nvPr>
                <p:extLst>
                  <p:ext uri="{D42A27DB-BD31-4B8C-83A1-F6EECF244321}">
                    <p14:modId xmlns:p14="http://schemas.microsoft.com/office/powerpoint/2010/main" val="3478623776"/>
                  </p:ext>
                </p:extLst>
              </p:nvPr>
            </p:nvGraphicFramePr>
            <p:xfrm>
              <a:off x="571500" y="2276475"/>
              <a:ext cx="11049000" cy="3540780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{DB989710-9016-4797-96AD-5364B75FA817}</a:tableStyleId>
                  </a:tblPr>
                  <a:tblGrid>
                    <a:gridCol w="27165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67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887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9142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585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93425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1" i="0" u="none" strike="noStrike" cap="none">
                              <a:solidFill>
                                <a:srgbClr val="0F172A"/>
                              </a:solidFill>
                              <a:latin typeface="Montserrat"/>
                              <a:ea typeface="Montserrat"/>
                              <a:cs typeface="Montserrat"/>
                              <a:sym typeface="Montserrat"/>
                            </a:rPr>
                            <a:t>Covariable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6"/>
                          <a:stretch>
                            <a:fillRect l="-98624" t="-1818" r="-201376" b="-4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1" i="0" u="none" strike="noStrike" cap="none">
                              <a:solidFill>
                                <a:srgbClr val="0F172A"/>
                              </a:solidFill>
                              <a:latin typeface="Montserrat"/>
                              <a:ea typeface="Montserrat"/>
                              <a:cs typeface="Montserrat"/>
                              <a:sym typeface="Montserrat"/>
                            </a:rPr>
                            <a:t>Z (Wald)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1" i="0" u="none" strike="noStrike" cap="none">
                              <a:solidFill>
                                <a:srgbClr val="0F172A"/>
                              </a:solidFill>
                              <a:latin typeface="Montserrat"/>
                              <a:ea typeface="Montserrat"/>
                              <a:cs typeface="Montserrat"/>
                              <a:sym typeface="Montserrat"/>
                            </a:rPr>
                            <a:t>P &gt; |z|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1" i="0" u="none" strike="noStrike" cap="none">
                              <a:solidFill>
                                <a:srgbClr val="0F172A"/>
                              </a:solidFill>
                              <a:latin typeface="Montserrat"/>
                              <a:ea typeface="Montserrat"/>
                              <a:cs typeface="Montserrat"/>
                              <a:sym typeface="Montserrat"/>
                            </a:rPr>
                            <a:t>Interval Conf. (95%)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1F5F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934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6"/>
                          <a:stretch>
                            <a:fillRect l="-467" t="-101818" r="-307009" b="-3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      7.3944 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  23.372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&lt; 0.001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     [6.7743, 8.0145] 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93425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ExternalRiskEstimate</a:t>
                          </a: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 b="1">
                              <a:latin typeface="Aptos" panose="020B0004020202020204" pitchFamily="34" charset="0"/>
                            </a:rPr>
                            <a:t>Score crediticio</a:t>
                          </a:r>
                          <a:endParaRPr sz="1600" b="1">
                            <a:latin typeface="Aptos" panose="020B0004020202020204" pitchFamily="34" charset="0"/>
                          </a:endParaRPr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     -0.0969 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 -25.238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&lt; 0.001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   [-0.1044, -0.0894] 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6708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NetFracRevolBurden</a:t>
                          </a: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1" i="0" u="none" strike="noStrike" cap="none">
                              <a:solidFill>
                                <a:srgbClr val="334155"/>
                              </a:solidFill>
                              <a:latin typeface="Aptos" panose="020B0004020202020204" pitchFamily="34" charset="0"/>
                              <a:ea typeface="Open Sans"/>
                              <a:cs typeface="Open Sans"/>
                              <a:sym typeface="Open Sans"/>
                            </a:rPr>
                            <a:t>Porcentaje de uso de tarjetas</a:t>
                          </a:r>
                          <a:endParaRPr sz="1600" b="1">
                            <a:latin typeface="Aptos" panose="020B0004020202020204" pitchFamily="34" charset="0"/>
                          </a:endParaRPr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      0.0079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   6.384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&lt; 0.001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    [0.0055, 0.0103]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93425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NumSatisfactoryTrades</a:t>
                          </a: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 b="1">
                              <a:latin typeface="Aptos" panose="020B0004020202020204" pitchFamily="34" charset="0"/>
                            </a:rPr>
                            <a:t>Número de cuentas diarias</a:t>
                          </a:r>
                          <a:endParaRPr sz="1600" b="1">
                            <a:latin typeface="Aptos" panose="020B0004020202020204" pitchFamily="34" charset="0"/>
                          </a:endParaRPr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     -0.0275 </a:t>
                          </a:r>
                          <a:endParaRPr lang="en-US"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-10.880</a:t>
                          </a:r>
                          <a:endParaRPr lang="en-US"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&lt; 0.001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500" b="0" i="0" u="none" strike="noStrike" cap="none">
                              <a:solidFill>
                                <a:srgbClr val="334155"/>
                              </a:solidFill>
                              <a:latin typeface="Open Sans"/>
                              <a:ea typeface="Open Sans"/>
                              <a:cs typeface="Open Sans"/>
                              <a:sym typeface="Open Sans"/>
                            </a:rPr>
                            <a:t>   [-0.0325, -0.0226] 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3" name="Google Shape;163;p18"/>
          <p:cNvSpPr/>
          <p:nvPr/>
        </p:nvSpPr>
        <p:spPr>
          <a:xfrm>
            <a:off x="571500" y="2957512"/>
            <a:ext cx="27165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3288059" y="2957512"/>
            <a:ext cx="27673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6055369" y="2957512"/>
            <a:ext cx="13887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7444085" y="2957512"/>
            <a:ext cx="15914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9035504" y="2957512"/>
            <a:ext cx="2584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71500" y="3652837"/>
            <a:ext cx="27165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3288059" y="3652837"/>
            <a:ext cx="27673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6055369" y="3652837"/>
            <a:ext cx="13887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7444085" y="3652837"/>
            <a:ext cx="15914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9035504" y="3652837"/>
            <a:ext cx="2584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71500" y="4348162"/>
            <a:ext cx="27165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3288059" y="4348162"/>
            <a:ext cx="27673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6055369" y="4348162"/>
            <a:ext cx="13887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7444085" y="4348162"/>
            <a:ext cx="15914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9035504" y="4348162"/>
            <a:ext cx="2584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571500" y="5043487"/>
            <a:ext cx="27165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3288059" y="5043487"/>
            <a:ext cx="27673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6055369" y="5043487"/>
            <a:ext cx="13887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7444085" y="5043487"/>
            <a:ext cx="15914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9035504" y="5043487"/>
            <a:ext cx="2584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Apple Garamond" panose="02000506080000020004" pitchFamily="2" charset="0"/>
                <a:ea typeface="Montserrat"/>
                <a:cs typeface="Montserrat"/>
                <a:sym typeface="Montserrat"/>
              </a:rPr>
              <a:t>El Modelo Logístico: Estimaciones</a:t>
            </a:r>
            <a:endParaRPr sz="3600">
              <a:latin typeface="Apple Garamond" panose="02000506080000020004" pitchFamily="2" charset="0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0CAED9-8C2B-F890-04EA-39C5F0E73E64}"/>
                  </a:ext>
                </a:extLst>
              </p:cNvPr>
              <p:cNvSpPr txBox="1"/>
              <p:nvPr/>
            </p:nvSpPr>
            <p:spPr>
              <a:xfrm>
                <a:off x="5632486" y="5830510"/>
                <a:ext cx="1479478" cy="60362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6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s-ES" sz="1600" b="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s-ES" sz="1600" b="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sz="16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ES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s-ES" sz="1600" b="0" i="1"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s-ES" sz="1600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ES" sz="16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s-ES" sz="16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s-ES" sz="1600" b="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0CAED9-8C2B-F890-04EA-39C5F0E73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486" y="5830510"/>
                <a:ext cx="1479478" cy="603627"/>
              </a:xfrm>
              <a:prstGeom prst="rect">
                <a:avLst/>
              </a:prstGeom>
              <a:blipFill>
                <a:blip r:embed="rId7"/>
                <a:stretch>
                  <a:fillRect b="-1020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364C370-41AA-51A3-F426-AB9BC1459F07}"/>
                  </a:ext>
                </a:extLst>
              </p:cNvPr>
              <p:cNvSpPr txBox="1"/>
              <p:nvPr/>
            </p:nvSpPr>
            <p:spPr>
              <a:xfrm>
                <a:off x="9493321" y="6012418"/>
                <a:ext cx="1189749" cy="24622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∉</m:t>
                      </m:r>
                      <m:r>
                        <a:rPr lang="es-ES" sz="16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𝐼𝑛𝑡𝑒𝑟𝑣𝑎𝑙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364C370-41AA-51A3-F426-AB9BC1459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3321" y="6012418"/>
                <a:ext cx="1189749" cy="246221"/>
              </a:xfrm>
              <a:prstGeom prst="rect">
                <a:avLst/>
              </a:prstGeom>
              <a:blipFill>
                <a:blip r:embed="rId8"/>
                <a:stretch>
                  <a:fillRect l="-2083" r="-2083" b="-1363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4E153BC-6B42-098E-9C1D-84035EBB53B3}"/>
              </a:ext>
            </a:extLst>
          </p:cNvPr>
          <p:cNvSpPr txBox="1"/>
          <p:nvPr/>
        </p:nvSpPr>
        <p:spPr>
          <a:xfrm>
            <a:off x="7345053" y="5970605"/>
            <a:ext cx="1278676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>
                <a:latin typeface="Aptos" panose="020B0004020202020204" pitchFamily="34" charset="0"/>
              </a:rPr>
              <a:t>significativo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552450" y="5926518"/>
            <a:ext cx="11049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Narrativa:</a:t>
            </a:r>
            <a:r>
              <a:rPr lang="en-US" sz="1500" b="0" i="1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Por cada 1% adicional que el cliente consuma del límite de su tarjeta, las probabilidades (odds) de impagar </a:t>
            </a:r>
            <a:r>
              <a:rPr lang="en-US" sz="1500" b="1" i="1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aumentan un 0.8%</a:t>
            </a:r>
            <a:r>
              <a:rPr lang="en-US" sz="1500" b="0" i="1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(Por el contrario, un mejor Score reduce notablemente el riesgo (0.908).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Google Shape;193;p19"/>
              <p:cNvSpPr txBox="1"/>
              <p:nvPr/>
            </p:nvSpPr>
            <p:spPr>
              <a:xfrm>
                <a:off x="559143" y="590287"/>
                <a:ext cx="11601450" cy="5748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 b="1" i="0" u="none" strike="noStrike" cap="none">
                    <a:solidFill>
                      <a:srgbClr val="0F172A"/>
                    </a:solidFill>
                    <a:latin typeface="Apple Garamond" panose="02000506080000020004" pitchFamily="2" charset="0"/>
                    <a:ea typeface="Montserrat"/>
                    <a:cs typeface="Montserrat"/>
                    <a:sym typeface="Montserrat"/>
                  </a:rPr>
                  <a:t>Interpretación Económica: Odds Ratios: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1" i="1" u="none" strike="noStrike" cap="none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  <a:sym typeface="Montserrat"/>
                          </a:rPr>
                        </m:ctrlPr>
                      </m:sSupPr>
                      <m:e>
                        <m:r>
                          <a:rPr lang="es-ES" sz="3600" b="1" i="1" u="none" strike="noStrike" cap="none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  <a:sym typeface="Montserrat"/>
                          </a:rPr>
                          <m:t>𝒆</m:t>
                        </m:r>
                      </m:e>
                      <m:sup>
                        <m:sSub>
                          <m:sSubPr>
                            <m:ctrlPr>
                              <a:rPr lang="es-ES" sz="3600" b="1" i="1" u="none" strike="noStrike" cap="none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Montserrat"/>
                              </a:rPr>
                            </m:ctrlPr>
                          </m:sSubPr>
                          <m:e>
                            <m:r>
                              <a:rPr lang="en-US" sz="3600" b="1" i="1" u="none" strike="noStrike" cap="none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Montserrat"/>
                              </a:rPr>
                              <m:t>𝜷</m:t>
                            </m:r>
                          </m:e>
                          <m:sub>
                            <m:r>
                              <a:rPr lang="es-ES" sz="3600" b="1" i="1" u="none" strike="noStrike" cap="none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Montserrat"/>
                              </a:rPr>
                              <m:t>𝒌</m:t>
                            </m:r>
                          </m:sub>
                        </m:sSub>
                      </m:sup>
                    </m:sSup>
                  </m:oMath>
                </a14:m>
                <a:endParaRPr sz="3600">
                  <a:latin typeface="Apple Garamond" panose="02000506080000020004" pitchFamily="2" charset="0"/>
                </a:endParaRPr>
              </a:p>
            </p:txBody>
          </p:sp>
        </mc:Choice>
        <mc:Fallback xmlns="">
          <p:sp>
            <p:nvSpPr>
              <p:cNvPr id="193" name="Google Shape;193;p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43" y="590287"/>
                <a:ext cx="11601450" cy="574837"/>
              </a:xfrm>
              <a:prstGeom prst="rect">
                <a:avLst/>
              </a:prstGeom>
              <a:blipFill>
                <a:blip r:embed="rId4"/>
                <a:stretch>
                  <a:fillRect l="-2407" t="-19565" b="-478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" name="Google Shape;194;p19"/>
          <p:cNvSpPr/>
          <p:nvPr/>
        </p:nvSpPr>
        <p:spPr>
          <a:xfrm>
            <a:off x="571500" y="174307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A table with numbers and a few black text&#10;&#10;AI-generated content may be incorrect.">
            <a:extLst>
              <a:ext uri="{FF2B5EF4-FFF2-40B4-BE49-F238E27FC236}">
                <a16:creationId xmlns:a16="http://schemas.microsoft.com/office/drawing/2014/main" id="{00A05CB0-43DD-8E08-A589-2263FAF1C6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221" y="2149531"/>
            <a:ext cx="11084229" cy="31990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38643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571500" y="1638300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¿Dice el modelo la verdad?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Apple Garamond" panose="02000506080000020004" pitchFamily="2" charset="0"/>
                <a:ea typeface="Montserrat"/>
                <a:cs typeface="Montserrat"/>
                <a:sym typeface="Montserrat"/>
              </a:rPr>
              <a:t>Calibración</a:t>
            </a:r>
            <a:r>
              <a:rPr lang="en-US" sz="3300" b="1" i="0" u="none" strike="noStrike" cap="none">
                <a:solidFill>
                  <a:srgbClr val="0F172A"/>
                </a:solidFill>
                <a:latin typeface="Apple Garamond" panose="02000506080000020004" pitchFamily="2" charset="0"/>
                <a:ea typeface="Montserrat"/>
                <a:cs typeface="Montserrat"/>
                <a:sym typeface="Montserrat"/>
              </a:rPr>
              <a:t>: Test de Hosmer-Lemeshow</a:t>
            </a:r>
            <a:endParaRPr>
              <a:solidFill>
                <a:srgbClr val="0F172A"/>
              </a:solidFill>
              <a:latin typeface="Apple Garamond" panose="02000506080000020004" pitchFamily="2" charset="0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A close-up of a number&#10;&#10;AI-generated content may be incorrect.">
            <a:extLst>
              <a:ext uri="{FF2B5EF4-FFF2-40B4-BE49-F238E27FC236}">
                <a16:creationId xmlns:a16="http://schemas.microsoft.com/office/drawing/2014/main" id="{2BC51785-45F7-2905-A6AC-A52C86EDA3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5975" y="1371600"/>
            <a:ext cx="3492500" cy="10033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table with numbers and a few black text&#10;&#10;AI-generated content may be incorrect.">
            <a:extLst>
              <a:ext uri="{FF2B5EF4-FFF2-40B4-BE49-F238E27FC236}">
                <a16:creationId xmlns:a16="http://schemas.microsoft.com/office/drawing/2014/main" id="{E413CAEF-814D-B002-A510-5BAA25AAD7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0100" y="2748973"/>
            <a:ext cx="5740400" cy="3263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graph of a bar graph&#10;&#10;AI-generated content may be incorrect.">
            <a:extLst>
              <a:ext uri="{FF2B5EF4-FFF2-40B4-BE49-F238E27FC236}">
                <a16:creationId xmlns:a16="http://schemas.microsoft.com/office/drawing/2014/main" id="{8E545497-844D-88CE-7523-1386608BB2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752" y="3000805"/>
            <a:ext cx="5500687" cy="26298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/>
        </p:nvSpPr>
        <p:spPr>
          <a:xfrm>
            <a:off x="571500" y="416421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Apple Garamond" panose="02000506080000020004" pitchFamily="2" charset="0"/>
                <a:ea typeface="Montserrat"/>
                <a:cs typeface="Montserrat"/>
                <a:sym typeface="Montserrat"/>
              </a:rPr>
              <a:t>Bondad de Ajuste: Histograma, Matriz de Confusión,Curva ROC </a:t>
            </a:r>
            <a:endParaRPr sz="3600">
              <a:solidFill>
                <a:srgbClr val="0F172A"/>
              </a:solidFill>
              <a:latin typeface="Apple Garamond" panose="02000506080000020004" pitchFamily="2" charset="0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571500" y="1073646"/>
            <a:ext cx="110490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458AF7-19EE-D742-A11A-FF9B2D50A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1" y="1419479"/>
            <a:ext cx="11049000" cy="43648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F687976-784D-840E-E189-A6B7D6381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6049264"/>
            <a:ext cx="327660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D3A0AA75-59C1-5200-7BDD-2BFED760C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>
            <a:extLst>
              <a:ext uri="{FF2B5EF4-FFF2-40B4-BE49-F238E27FC236}">
                <a16:creationId xmlns:a16="http://schemas.microsoft.com/office/drawing/2014/main" id="{531700CD-6815-D3AE-0984-1C6AE2961C3C}"/>
              </a:ext>
            </a:extLst>
          </p:cNvPr>
          <p:cNvSpPr txBox="1"/>
          <p:nvPr/>
        </p:nvSpPr>
        <p:spPr>
          <a:xfrm>
            <a:off x="571500" y="416421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Apple Garamond" panose="02000506080000020004" pitchFamily="2" charset="0"/>
                <a:ea typeface="Montserrat"/>
                <a:cs typeface="Montserrat"/>
                <a:sym typeface="Montserrat"/>
              </a:rPr>
              <a:t>Equivalentes en SPSS</a:t>
            </a:r>
            <a:endParaRPr sz="3600">
              <a:solidFill>
                <a:srgbClr val="0F172A"/>
              </a:solidFill>
              <a:latin typeface="Apple Garamond" panose="02000506080000020004" pitchFamily="2" charset="0"/>
            </a:endParaRPr>
          </a:p>
        </p:txBody>
      </p:sp>
      <p:sp>
        <p:nvSpPr>
          <p:cNvPr id="218" name="Google Shape;218;p21">
            <a:extLst>
              <a:ext uri="{FF2B5EF4-FFF2-40B4-BE49-F238E27FC236}">
                <a16:creationId xmlns:a16="http://schemas.microsoft.com/office/drawing/2014/main" id="{DB1BE372-4C40-20E4-51DA-3DD969377E65}"/>
              </a:ext>
            </a:extLst>
          </p:cNvPr>
          <p:cNvSpPr/>
          <p:nvPr/>
        </p:nvSpPr>
        <p:spPr>
          <a:xfrm>
            <a:off x="571500" y="1073646"/>
            <a:ext cx="110490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A number line with numbers&#10;&#10;AI-generated content may be incorrect.">
            <a:extLst>
              <a:ext uri="{FF2B5EF4-FFF2-40B4-BE49-F238E27FC236}">
                <a16:creationId xmlns:a16="http://schemas.microsoft.com/office/drawing/2014/main" id="{0E3126A9-0122-57E8-114E-B0AE472F6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669" y="1205448"/>
            <a:ext cx="7772400" cy="35941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 descr="A table with numbers and a list of cases&#10;&#10;AI-generated content may be incorrect.">
            <a:extLst>
              <a:ext uri="{FF2B5EF4-FFF2-40B4-BE49-F238E27FC236}">
                <a16:creationId xmlns:a16="http://schemas.microsoft.com/office/drawing/2014/main" id="{9EE230CF-14CF-CE97-4EE0-218EF1DD79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9652"/>
          <a:stretch>
            <a:fillRect/>
          </a:stretch>
        </p:blipFill>
        <p:spPr>
          <a:xfrm>
            <a:off x="1928669" y="4799564"/>
            <a:ext cx="7772400" cy="20366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52872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01DB1473-4339-34E1-560F-3A640ED5B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>
            <a:extLst>
              <a:ext uri="{FF2B5EF4-FFF2-40B4-BE49-F238E27FC236}">
                <a16:creationId xmlns:a16="http://schemas.microsoft.com/office/drawing/2014/main" id="{3E72D6F7-2CEE-F8CD-2843-9B35C49783E0}"/>
              </a:ext>
            </a:extLst>
          </p:cNvPr>
          <p:cNvSpPr txBox="1"/>
          <p:nvPr/>
        </p:nvSpPr>
        <p:spPr>
          <a:xfrm>
            <a:off x="571500" y="416421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Apple Garamond" panose="02000506080000020004" pitchFamily="2" charset="0"/>
                <a:ea typeface="Montserrat"/>
                <a:cs typeface="Montserrat"/>
                <a:sym typeface="Montserrat"/>
              </a:rPr>
              <a:t>Bootstrapping: estabilidad de las métricas calculadas</a:t>
            </a:r>
            <a:endParaRPr sz="3600">
              <a:solidFill>
                <a:srgbClr val="0F172A"/>
              </a:solidFill>
              <a:latin typeface="Apple Garamond" panose="02000506080000020004" pitchFamily="2" charset="0"/>
            </a:endParaRPr>
          </a:p>
        </p:txBody>
      </p:sp>
      <p:sp>
        <p:nvSpPr>
          <p:cNvPr id="218" name="Google Shape;218;p21">
            <a:extLst>
              <a:ext uri="{FF2B5EF4-FFF2-40B4-BE49-F238E27FC236}">
                <a16:creationId xmlns:a16="http://schemas.microsoft.com/office/drawing/2014/main" id="{9E8AE4F6-E50B-A2C8-E15F-053EE1CCBD2F}"/>
              </a:ext>
            </a:extLst>
          </p:cNvPr>
          <p:cNvSpPr/>
          <p:nvPr/>
        </p:nvSpPr>
        <p:spPr>
          <a:xfrm>
            <a:off x="571500" y="1073646"/>
            <a:ext cx="110490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D3C95C5B-0EF8-C3A8-3693-6EB1B03CF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55157"/>
            <a:ext cx="11049000" cy="2322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 descr="A table with numbers and a number on it&#10;&#10;AI-generated content may be incorrect.">
            <a:extLst>
              <a:ext uri="{FF2B5EF4-FFF2-40B4-BE49-F238E27FC236}">
                <a16:creationId xmlns:a16="http://schemas.microsoft.com/office/drawing/2014/main" id="{19168692-8BDC-4F21-B4A3-AF7CA5AD5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99" y="4102779"/>
            <a:ext cx="11048999" cy="23904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1301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940393"/>
            <a:ext cx="5286375" cy="848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6334125" y="1638300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Apple Garamond" panose="02000506080000020004" pitchFamily="2" charset="0"/>
                <a:ea typeface="Montserrat SemiBold"/>
                <a:cs typeface="Montserrat SemiBold"/>
                <a:sym typeface="Montserrat SemiBold"/>
              </a:rPr>
              <a:t>Ejemplo Simulado: Cliente Entrante</a:t>
            </a:r>
            <a:endParaRPr sz="2400">
              <a:latin typeface="Apple Garamond" panose="02000506080000020004" pitchFamily="2" charset="0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6334125" y="2105025"/>
            <a:ext cx="528637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Perfil: Score= 85, Uso de Tarjeta=10, Cuentas al día=30.</a:t>
            </a:r>
            <a:endParaRPr sz="1600">
              <a:latin typeface="Aptos" panose="020B0004020202020204" pitchFamily="34" charset="0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6334125" y="4039195"/>
            <a:ext cx="528637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75569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Resultado:</a:t>
            </a:r>
            <a:r>
              <a:rPr lang="en-US" sz="1600" b="0" i="0" u="none" strike="noStrike" cap="none">
                <a:solidFill>
                  <a:srgbClr val="475569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 Probabilidad de Default(Impago) = 0.12 .</a:t>
            </a:r>
            <a:endParaRPr sz="1600">
              <a:latin typeface="Aptos" panose="020B0004020202020204" pitchFamily="34" charset="0"/>
            </a:endParaRPr>
          </a:p>
        </p:txBody>
      </p:sp>
      <p:sp>
        <p:nvSpPr>
          <p:cNvPr id="245" name="Google Shape;245;p23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Apple Garamond" panose="02000506080000020004" pitchFamily="2" charset="0"/>
                <a:ea typeface="Montserrat"/>
                <a:cs typeface="Montserrat"/>
                <a:sym typeface="Montserrat"/>
              </a:rPr>
              <a:t>Story-Telling: Aplicación al Negocio</a:t>
            </a:r>
            <a:endParaRPr sz="3600">
              <a:latin typeface="Apple Garamond" panose="02000506080000020004" pitchFamily="2" charset="0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8" name="Picture 4" descr="Top 12 Things Customers Look for in a Bank">
            <a:extLst>
              <a:ext uri="{FF2B5EF4-FFF2-40B4-BE49-F238E27FC236}">
                <a16:creationId xmlns:a16="http://schemas.microsoft.com/office/drawing/2014/main" id="{CF1B2D68-F5BF-3A44-9237-1203DBA92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2013629"/>
            <a:ext cx="5423469" cy="361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77C3030-A4F5-5CF1-98F8-7D8902AC7EE8}"/>
                  </a:ext>
                </a:extLst>
              </p:cNvPr>
              <p:cNvSpPr txBox="1"/>
              <p:nvPr/>
            </p:nvSpPr>
            <p:spPr>
              <a:xfrm>
                <a:off x="6481247" y="3179887"/>
                <a:ext cx="49921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0" i="0" u="none" strike="noStrike" cap="none">
                    <a:solidFill>
                      <a:srgbClr val="475569"/>
                    </a:solidFill>
                    <a:latin typeface="Aptos" panose="020B0004020202020204" pitchFamily="34" charset="0"/>
                    <a:ea typeface="Open Sans"/>
                    <a:cs typeface="Open Sans"/>
                    <a:sym typeface="Open Sans"/>
                  </a:rPr>
                  <a:t>Z </a:t>
                </a:r>
                <a14:m>
                  <m:oMath xmlns:m="http://schemas.openxmlformats.org/officeDocument/2006/math">
                    <m:r>
                      <a:rPr lang="es-ES" sz="1800" b="1" i="1" u="none" strike="noStrike" cap="none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Open Sans"/>
                        <a:cs typeface="Open Sans"/>
                        <a:sym typeface="Open Sans"/>
                      </a:rPr>
                      <m:t>=</m:t>
                    </m:r>
                    <m:sSub>
                      <m:sSubPr>
                        <m:ctrlPr>
                          <a:rPr lang="es-ES" sz="1800" b="1" i="1" u="none" strike="noStrike" cap="none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/>
                            <a:sym typeface="Open Sans"/>
                          </a:rPr>
                        </m:ctrlPr>
                      </m:sSubPr>
                      <m:e>
                        <m:r>
                          <a:rPr lang="es-ES" sz="1800" b="1" i="1" u="none" strike="noStrike" cap="none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/>
                            <a:sym typeface="Open Sans"/>
                          </a:rPr>
                          <m:t>𝜷</m:t>
                        </m:r>
                      </m:e>
                      <m:sub>
                        <m:r>
                          <a:rPr lang="es-ES" sz="1800" b="1" i="1" u="none" strike="noStrike" cap="none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/>
                            <a:sym typeface="Open Sans"/>
                          </a:rPr>
                          <m:t>𝟎</m:t>
                        </m:r>
                      </m:sub>
                    </m:sSub>
                    <m:r>
                      <a:rPr lang="es-ES" sz="1800" b="1" i="1" u="none" strike="noStrike" cap="none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/>
                        <a:sym typeface="Open Sans"/>
                      </a:rPr>
                      <m:t>+</m:t>
                    </m:r>
                    <m:sSub>
                      <m:sSubPr>
                        <m:ctrlPr>
                          <a:rPr lang="es-ES" sz="1800" b="1" i="1" u="none" strike="noStrike" cap="none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/>
                            <a:sym typeface="Open Sans"/>
                          </a:rPr>
                        </m:ctrlPr>
                      </m:sSubPr>
                      <m:e>
                        <m:r>
                          <a:rPr lang="es-ES" sz="1800" b="1" i="1" u="none" strike="noStrike" cap="none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/>
                            <a:sym typeface="Open Sans"/>
                          </a:rPr>
                          <m:t>𝜷</m:t>
                        </m:r>
                      </m:e>
                      <m:sub>
                        <m:r>
                          <a:rPr lang="es-ES" sz="1800" b="1" i="1" u="none" strike="noStrike" cap="none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/>
                            <a:sym typeface="Open Sans"/>
                          </a:rPr>
                          <m:t>𝟏</m:t>
                        </m:r>
                      </m:sub>
                    </m:sSub>
                    <m:r>
                      <a:rPr lang="es-ES" sz="1800" b="1" i="1" u="none" strike="noStrike" cap="none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/>
                        <a:sym typeface="Open Sans"/>
                      </a:rPr>
                      <m:t>×</m:t>
                    </m:r>
                    <m:r>
                      <a:rPr lang="es-ES" sz="1800" b="1" i="1" u="none" strike="noStrike" cap="none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/>
                        <a:sym typeface="Open Sans"/>
                      </a:rPr>
                      <m:t>𝑬𝑹𝑬</m:t>
                    </m:r>
                    <m:r>
                      <a:rPr lang="es-ES" sz="1800" b="1" i="1" u="none" strike="noStrike" cap="none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/>
                        <a:sym typeface="Open Sans"/>
                      </a:rPr>
                      <m:t>+</m:t>
                    </m:r>
                    <m:sSub>
                      <m:sSubPr>
                        <m:ctrlPr>
                          <a:rPr lang="es-ES" sz="1800" b="1" i="1" u="none" strike="noStrike" cap="none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/>
                            <a:sym typeface="Open Sans"/>
                          </a:rPr>
                        </m:ctrlPr>
                      </m:sSubPr>
                      <m:e>
                        <m:r>
                          <a:rPr lang="es-ES" sz="1800" b="1" i="1" u="none" strike="noStrike" cap="none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/>
                            <a:sym typeface="Open Sans"/>
                          </a:rPr>
                          <m:t>𝜷</m:t>
                        </m:r>
                      </m:e>
                      <m:sub>
                        <m:r>
                          <a:rPr lang="es-ES" sz="1800" b="1" i="1" u="none" strike="noStrike" cap="none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/>
                            <a:sym typeface="Open Sans"/>
                          </a:rPr>
                          <m:t>𝟐</m:t>
                        </m:r>
                      </m:sub>
                    </m:sSub>
                    <m:r>
                      <a:rPr lang="es-ES" sz="1800" b="1" i="1" u="none" strike="noStrike" cap="none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/>
                        <a:sym typeface="Open Sans"/>
                      </a:rPr>
                      <m:t>×</m:t>
                    </m:r>
                    <m:r>
                      <a:rPr lang="es-ES" sz="1800" b="1" i="1" u="none" strike="noStrike" cap="none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/>
                        <a:sym typeface="Open Sans"/>
                      </a:rPr>
                      <m:t>𝑵𝑭𝑹𝑳</m:t>
                    </m:r>
                    <m:r>
                      <a:rPr lang="es-ES" sz="1800" b="1" i="1" u="none" strike="noStrike" cap="none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/>
                        <a:sym typeface="Open Sans"/>
                      </a:rPr>
                      <m:t>+</m:t>
                    </m:r>
                    <m:sSub>
                      <m:sSubPr>
                        <m:ctrlPr>
                          <a:rPr lang="es-ES" sz="1800" b="1" i="1" u="none" strike="noStrike" cap="none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/>
                            <a:sym typeface="Open Sans"/>
                          </a:rPr>
                        </m:ctrlPr>
                      </m:sSubPr>
                      <m:e>
                        <m:r>
                          <a:rPr lang="es-ES" sz="1800" b="1" i="1" u="none" strike="noStrike" cap="none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/>
                            <a:sym typeface="Open Sans"/>
                          </a:rPr>
                          <m:t>𝜷</m:t>
                        </m:r>
                      </m:e>
                      <m:sub>
                        <m:r>
                          <a:rPr lang="es-ES" sz="1800" b="1" i="1" u="none" strike="noStrike" cap="none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/>
                            <a:sym typeface="Open Sans"/>
                          </a:rPr>
                          <m:t>𝟐</m:t>
                        </m:r>
                      </m:sub>
                    </m:sSub>
                    <m:r>
                      <a:rPr lang="es-ES" sz="1800" b="1" i="1" u="none" strike="noStrike" cap="none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/>
                        <a:sym typeface="Open Sans"/>
                      </a:rPr>
                      <m:t>×</m:t>
                    </m:r>
                    <m:r>
                      <a:rPr lang="es-ES" sz="1800" b="1" i="1" u="none" strike="noStrike" cap="none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/>
                        <a:sym typeface="Open Sans"/>
                      </a:rPr>
                      <m:t>𝑵𝑺𝑻</m:t>
                    </m:r>
                  </m:oMath>
                </a14:m>
                <a:endParaRPr lang="en-US" sz="180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77C3030-A4F5-5CF1-98F8-7D8902AC7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1247" y="3179887"/>
                <a:ext cx="4992130" cy="369332"/>
              </a:xfrm>
              <a:prstGeom prst="rect">
                <a:avLst/>
              </a:prstGeom>
              <a:blipFill>
                <a:blip r:embed="rId5"/>
                <a:stretch>
                  <a:fillRect l="-1015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5DB6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/>
        </p:nvSpPr>
        <p:spPr>
          <a:xfrm>
            <a:off x="2095500" y="1873746"/>
            <a:ext cx="8001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F8FAFC"/>
                </a:solidFill>
                <a:latin typeface="Apple Garamond" panose="02000506080000020004" pitchFamily="2" charset="0"/>
                <a:ea typeface="Montserrat"/>
                <a:cs typeface="Montserrat"/>
                <a:sym typeface="Montserrat"/>
              </a:rPr>
              <a:t>Conclusiones</a:t>
            </a:r>
            <a:endParaRPr sz="7200">
              <a:latin typeface="Apple Garamond" panose="02000506080000020004" pitchFamily="2" charset="0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2286000" y="2988171"/>
            <a:ext cx="762000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Hemos desarrollado un modelo </a:t>
            </a:r>
            <a:r>
              <a:rPr lang="en-US" sz="2100" b="1" i="0" u="none" strike="noStrike" cap="none">
                <a:solidFill>
                  <a:srgbClr val="CBD5E1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rentable</a:t>
            </a:r>
            <a:r>
              <a:rPr lang="en-US" sz="2100" b="0" i="0" u="none" strike="noStrike" cap="none">
                <a:solidFill>
                  <a:srgbClr val="CBD5E1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, estadísticamente </a:t>
            </a:r>
            <a:r>
              <a:rPr lang="en-US" sz="2100" b="1" i="0" u="none" strike="noStrike" cap="none">
                <a:solidFill>
                  <a:srgbClr val="CBD5E1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robusto</a:t>
            </a:r>
            <a:r>
              <a:rPr lang="en-US" sz="2100" b="0" i="0" u="none" strike="noStrike" cap="none">
                <a:solidFill>
                  <a:srgbClr val="CBD5E1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, y totalmente </a:t>
            </a:r>
            <a:r>
              <a:rPr lang="en-US" sz="2100" b="1" i="0" u="none" strike="noStrike" cap="none">
                <a:solidFill>
                  <a:srgbClr val="CBD5E1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explicable</a:t>
            </a:r>
            <a:r>
              <a:rPr lang="en-US" sz="2100" b="0" i="0" u="none" strike="noStrike" cap="none">
                <a:solidFill>
                  <a:srgbClr val="CBD5E1"/>
                </a:solidFill>
                <a:latin typeface="Aptos" panose="020B0004020202020204" pitchFamily="34" charset="0"/>
                <a:ea typeface="Open Sans"/>
                <a:cs typeface="Open Sans"/>
                <a:sym typeface="Open Sans"/>
              </a:rPr>
              <a:t>, cumpliendo las regulaciones bancarias europeas sin sacrificar poder predictivo.</a:t>
            </a:r>
            <a:endParaRPr sz="210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1778</Words>
  <Application>Microsoft Macintosh PowerPoint</Application>
  <PresentationFormat>Widescreen</PresentationFormat>
  <Paragraphs>158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-webkit-standard</vt:lpstr>
      <vt:lpstr>Apple Garamond</vt:lpstr>
      <vt:lpstr>Montserrat SemiBold</vt:lpstr>
      <vt:lpstr>Arial</vt:lpstr>
      <vt:lpstr>Aptos</vt:lpstr>
      <vt:lpstr>Montserrat</vt:lpstr>
      <vt:lpstr>Cambria Math</vt:lpstr>
      <vt:lpstr>Calibri</vt:lpstr>
      <vt:lpstr>Open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 Bagoyo Burgos</cp:lastModifiedBy>
  <cp:revision>14</cp:revision>
  <dcterms:modified xsi:type="dcterms:W3CDTF">2026-03-11T01:31:43Z</dcterms:modified>
</cp:coreProperties>
</file>